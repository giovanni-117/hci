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12192000"/>
  <p:notesSz cx="6858000" cy="9144000"/>
  <p:embeddedFontLst>
    <p:embeddedFont>
      <p:font typeface="Poppins"/>
      <p:regular r:id="rId23"/>
      <p:bold r:id="rId24"/>
      <p:italic r:id="rId25"/>
      <p:boldItalic r:id="rId26"/>
    </p:embeddedFont>
    <p:embeddedFont>
      <p:font typeface="Lato"/>
      <p:regular r:id="rId27"/>
      <p:bold r:id="rId28"/>
      <p:italic r:id="rId29"/>
      <p:boldItalic r:id="rId30"/>
    </p:embeddedFont>
    <p:embeddedFont>
      <p:font typeface="Poppins SemiBold"/>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C427C1A-D6EF-4649-AE6D-4DD0C29FC396}">
  <a:tblStyle styleId="{4C427C1A-D6EF-4649-AE6D-4DD0C29FC39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Poppins-bold.fntdata"/><Relationship Id="rId23" Type="http://schemas.openxmlformats.org/officeDocument/2006/relationships/font" Target="fonts/Poppin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oppins-boldItalic.fntdata"/><Relationship Id="rId25" Type="http://schemas.openxmlformats.org/officeDocument/2006/relationships/font" Target="fonts/Poppins-italic.fntdata"/><Relationship Id="rId28" Type="http://schemas.openxmlformats.org/officeDocument/2006/relationships/font" Target="fonts/Lato-bold.fntdata"/><Relationship Id="rId27" Type="http://schemas.openxmlformats.org/officeDocument/2006/relationships/font" Target="fonts/Lat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SemiBold-regular.fntdata"/><Relationship Id="rId30" Type="http://schemas.openxmlformats.org/officeDocument/2006/relationships/font" Target="fonts/Lato-boldItalic.fntdata"/><Relationship Id="rId11" Type="http://schemas.openxmlformats.org/officeDocument/2006/relationships/slide" Target="slides/slide5.xml"/><Relationship Id="rId33" Type="http://schemas.openxmlformats.org/officeDocument/2006/relationships/font" Target="fonts/PoppinsSemiBold-italic.fntdata"/><Relationship Id="rId10" Type="http://schemas.openxmlformats.org/officeDocument/2006/relationships/slide" Target="slides/slide4.xml"/><Relationship Id="rId32" Type="http://schemas.openxmlformats.org/officeDocument/2006/relationships/font" Target="fonts/PoppinsSemiBold-bold.fntdata"/><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font" Target="fonts/PoppinsSemiBold-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9bfc8528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e9bfc852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9f61e3a4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g3e9f61e3a4b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a0268c73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g3ea0268c738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ea0268c73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g3ea0268c738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ea0268c73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ea0268c738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9f61e3a4b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3e9f61e3a4b_1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a0268c738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3ea0268c738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a0268c73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g3ea0268c738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9f61e3a4b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e9f61e3a4b_1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1.png"/><Relationship Id="rId6"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83" name="Shape 83"/>
        <p:cNvGrpSpPr/>
        <p:nvPr/>
      </p:nvGrpSpPr>
      <p:grpSpPr>
        <a:xfrm>
          <a:off x="0" y="0"/>
          <a:ext cx="0" cy="0"/>
          <a:chOff x="0" y="0"/>
          <a:chExt cx="0" cy="0"/>
        </a:xfrm>
      </p:grpSpPr>
      <p:sp>
        <p:nvSpPr>
          <p:cNvPr id="84" name="Google Shape;84;p13"/>
          <p:cNvSpPr txBox="1"/>
          <p:nvPr/>
        </p:nvSpPr>
        <p:spPr>
          <a:xfrm>
            <a:off x="2625566" y="1786950"/>
            <a:ext cx="6940800" cy="8082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5250" u="none" cap="none" strike="noStrike">
                <a:solidFill>
                  <a:srgbClr val="FACC15"/>
                </a:solidFill>
                <a:latin typeface="Poppins"/>
                <a:ea typeface="Poppins"/>
                <a:cs typeface="Poppins"/>
                <a:sym typeface="Poppins"/>
              </a:rPr>
              <a:t>ECFCA System</a:t>
            </a:r>
            <a:endParaRPr/>
          </a:p>
        </p:txBody>
      </p:sp>
      <p:sp>
        <p:nvSpPr>
          <p:cNvPr id="85" name="Google Shape;85;p13"/>
          <p:cNvSpPr txBox="1"/>
          <p:nvPr/>
        </p:nvSpPr>
        <p:spPr>
          <a:xfrm>
            <a:off x="2790825" y="2777550"/>
            <a:ext cx="6610500" cy="22935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800" u="none" cap="none" strike="noStrike">
                <a:solidFill>
                  <a:srgbClr val="E2E8F0"/>
                </a:solidFill>
                <a:latin typeface="Lato"/>
                <a:ea typeface="Lato"/>
                <a:cs typeface="Lato"/>
                <a:sym typeface="Lato"/>
              </a:rPr>
              <a:t>HCI Project</a:t>
            </a:r>
            <a:br>
              <a:rPr lang="en-US" sz="1800">
                <a:solidFill>
                  <a:srgbClr val="E2E8F0"/>
                </a:solidFill>
                <a:latin typeface="Lato"/>
                <a:ea typeface="Lato"/>
                <a:cs typeface="Lato"/>
                <a:sym typeface="Lato"/>
              </a:rPr>
            </a:br>
            <a:r>
              <a:rPr lang="en-US" sz="1800">
                <a:solidFill>
                  <a:srgbClr val="E2E8F0"/>
                </a:solidFill>
                <a:latin typeface="Lato"/>
                <a:ea typeface="Lato"/>
                <a:cs typeface="Lato"/>
                <a:sym typeface="Lato"/>
              </a:rPr>
              <a:t>Samuel Blanco</a:t>
            </a:r>
            <a:br>
              <a:rPr lang="en-US" sz="1800">
                <a:solidFill>
                  <a:srgbClr val="E2E8F0"/>
                </a:solidFill>
                <a:latin typeface="Lato"/>
                <a:ea typeface="Lato"/>
                <a:cs typeface="Lato"/>
                <a:sym typeface="Lato"/>
              </a:rPr>
            </a:br>
            <a:r>
              <a:rPr lang="en-US" sz="1800">
                <a:solidFill>
                  <a:srgbClr val="E2E8F0"/>
                </a:solidFill>
                <a:latin typeface="Lato"/>
                <a:ea typeface="Lato"/>
                <a:cs typeface="Lato"/>
                <a:sym typeface="Lato"/>
              </a:rPr>
              <a:t>Aldar Duran</a:t>
            </a:r>
            <a:br>
              <a:rPr lang="en-US" sz="1800">
                <a:solidFill>
                  <a:srgbClr val="E2E8F0"/>
                </a:solidFill>
                <a:latin typeface="Lato"/>
                <a:ea typeface="Lato"/>
                <a:cs typeface="Lato"/>
                <a:sym typeface="Lato"/>
              </a:rPr>
            </a:br>
            <a:r>
              <a:rPr lang="en-US" sz="1800">
                <a:solidFill>
                  <a:srgbClr val="E2E8F0"/>
                </a:solidFill>
                <a:latin typeface="Lato"/>
                <a:ea typeface="Lato"/>
                <a:cs typeface="Lato"/>
                <a:sym typeface="Lato"/>
              </a:rPr>
              <a:t>Sebastian Leal</a:t>
            </a:r>
            <a:br>
              <a:rPr lang="en-US" sz="1800">
                <a:solidFill>
                  <a:srgbClr val="E2E8F0"/>
                </a:solidFill>
                <a:latin typeface="Lato"/>
                <a:ea typeface="Lato"/>
                <a:cs typeface="Lato"/>
                <a:sym typeface="Lato"/>
              </a:rPr>
            </a:br>
            <a:r>
              <a:rPr lang="en-US" sz="1800">
                <a:solidFill>
                  <a:srgbClr val="E2E8F0"/>
                </a:solidFill>
                <a:latin typeface="Lato"/>
                <a:ea typeface="Lato"/>
                <a:cs typeface="Lato"/>
                <a:sym typeface="Lato"/>
              </a:rPr>
              <a:t>Adriel Yerbes</a:t>
            </a:r>
            <a:br>
              <a:rPr lang="en-US" sz="1800">
                <a:solidFill>
                  <a:srgbClr val="E2E8F0"/>
                </a:solidFill>
                <a:latin typeface="Lato"/>
                <a:ea typeface="Lato"/>
                <a:cs typeface="Lato"/>
                <a:sym typeface="Lato"/>
              </a:rPr>
            </a:b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89" name="Shape 89"/>
        <p:cNvGrpSpPr/>
        <p:nvPr/>
      </p:nvGrpSpPr>
      <p:grpSpPr>
        <a:xfrm>
          <a:off x="0" y="0"/>
          <a:ext cx="0" cy="0"/>
          <a:chOff x="0" y="0"/>
          <a:chExt cx="0" cy="0"/>
        </a:xfrm>
      </p:grpSpPr>
      <p:sp>
        <p:nvSpPr>
          <p:cNvPr id="90" name="Google Shape;90;p14"/>
          <p:cNvSpPr/>
          <p:nvPr/>
        </p:nvSpPr>
        <p:spPr>
          <a:xfrm>
            <a:off x="5376225" y="174687"/>
            <a:ext cx="1143000" cy="47700"/>
          </a:xfrm>
          <a:prstGeom prst="rect">
            <a:avLst/>
          </a:prstGeom>
          <a:solidFill>
            <a:srgbClr val="FACC1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1" name="Google Shape;91;p14"/>
          <p:cNvSpPr txBox="1"/>
          <p:nvPr/>
        </p:nvSpPr>
        <p:spPr>
          <a:xfrm>
            <a:off x="1267114" y="365225"/>
            <a:ext cx="9361200" cy="692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500">
                <a:solidFill>
                  <a:srgbClr val="FACC15"/>
                </a:solidFill>
                <a:latin typeface="Poppins"/>
                <a:ea typeface="Poppins"/>
                <a:cs typeface="Poppins"/>
                <a:sym typeface="Poppins"/>
              </a:rPr>
              <a:t>WHAT IS THE PROJECT?</a:t>
            </a:r>
            <a:endParaRPr/>
          </a:p>
        </p:txBody>
      </p:sp>
      <p:pic>
        <p:nvPicPr>
          <p:cNvPr id="92" name="Google Shape;92;p14"/>
          <p:cNvPicPr preferRelativeResize="0"/>
          <p:nvPr/>
        </p:nvPicPr>
        <p:blipFill>
          <a:blip r:embed="rId3">
            <a:alphaModFix/>
          </a:blip>
          <a:stretch>
            <a:fillRect/>
          </a:stretch>
        </p:blipFill>
        <p:spPr>
          <a:xfrm>
            <a:off x="152400" y="1200762"/>
            <a:ext cx="11887198" cy="491689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96" name="Shape 96"/>
        <p:cNvGrpSpPr/>
        <p:nvPr/>
      </p:nvGrpSpPr>
      <p:grpSpPr>
        <a:xfrm>
          <a:off x="0" y="0"/>
          <a:ext cx="0" cy="0"/>
          <a:chOff x="0" y="0"/>
          <a:chExt cx="0" cy="0"/>
        </a:xfrm>
      </p:grpSpPr>
      <p:sp>
        <p:nvSpPr>
          <p:cNvPr id="97" name="Google Shape;97;p15"/>
          <p:cNvSpPr txBox="1"/>
          <p:nvPr/>
        </p:nvSpPr>
        <p:spPr>
          <a:xfrm>
            <a:off x="571500" y="571500"/>
            <a:ext cx="11601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FACC15"/>
                </a:solidFill>
                <a:latin typeface="Poppins SemiBold"/>
                <a:ea typeface="Poppins SemiBold"/>
                <a:cs typeface="Poppins SemiBold"/>
                <a:sym typeface="Poppins SemiBold"/>
              </a:rPr>
              <a:t>Demographic</a:t>
            </a:r>
            <a:endParaRPr/>
          </a:p>
        </p:txBody>
      </p:sp>
      <p:sp>
        <p:nvSpPr>
          <p:cNvPr id="98" name="Google Shape;98;p15"/>
          <p:cNvSpPr txBox="1"/>
          <p:nvPr/>
        </p:nvSpPr>
        <p:spPr>
          <a:xfrm>
            <a:off x="571500" y="1674950"/>
            <a:ext cx="7571100" cy="4213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2106" u="none" cap="none" strike="noStrike">
                <a:solidFill>
                  <a:srgbClr val="F8FAFC"/>
                </a:solidFill>
                <a:latin typeface="Lato"/>
                <a:ea typeface="Lato"/>
                <a:cs typeface="Lato"/>
                <a:sym typeface="Lato"/>
              </a:rPr>
              <a:t>The </a:t>
            </a:r>
            <a:r>
              <a:rPr lang="en-US" sz="2106">
                <a:solidFill>
                  <a:srgbClr val="F8FAFC"/>
                </a:solidFill>
                <a:latin typeface="Lato"/>
                <a:ea typeface="Lato"/>
                <a:cs typeface="Lato"/>
                <a:sym typeface="Lato"/>
              </a:rPr>
              <a:t>demographic that we targeted are graduates and professionals that seek to further their knowledge by taking the courses. </a:t>
            </a:r>
            <a:endParaRPr sz="2106">
              <a:solidFill>
                <a:srgbClr val="F8FAFC"/>
              </a:solidFill>
              <a:latin typeface="Lato"/>
              <a:ea typeface="Lato"/>
              <a:cs typeface="Lato"/>
              <a:sym typeface="Lato"/>
            </a:endParaRPr>
          </a:p>
          <a:p>
            <a:pPr indent="0" lvl="0" marL="0" marR="0" rtl="0" algn="l">
              <a:lnSpc>
                <a:spcPct val="150000"/>
              </a:lnSpc>
              <a:spcBef>
                <a:spcPts val="0"/>
              </a:spcBef>
              <a:spcAft>
                <a:spcPts val="0"/>
              </a:spcAft>
              <a:buNone/>
            </a:pPr>
            <a:r>
              <a:rPr lang="en-US" sz="2106">
                <a:solidFill>
                  <a:srgbClr val="F8FAFC"/>
                </a:solidFill>
                <a:latin typeface="Lato"/>
                <a:ea typeface="Lato"/>
                <a:cs typeface="Lato"/>
                <a:sym typeface="Lato"/>
              </a:rPr>
              <a:t>As per our demographic we decided to focus on professionals </a:t>
            </a:r>
            <a:r>
              <a:rPr lang="en-US" sz="2106">
                <a:solidFill>
                  <a:srgbClr val="F8FAFC"/>
                </a:solidFill>
                <a:latin typeface="Lato"/>
                <a:ea typeface="Lato"/>
                <a:cs typeface="Lato"/>
                <a:sym typeface="Lato"/>
              </a:rPr>
              <a:t>around</a:t>
            </a:r>
            <a:r>
              <a:rPr lang="en-US" sz="2106">
                <a:solidFill>
                  <a:srgbClr val="F8FAFC"/>
                </a:solidFill>
                <a:latin typeface="Lato"/>
                <a:ea typeface="Lato"/>
                <a:cs typeface="Lato"/>
                <a:sym typeface="Lato"/>
              </a:rPr>
              <a:t> the age of 25-45, persons that often have little time, low tolerance for technological friction.</a:t>
            </a:r>
            <a:endParaRPr sz="2106">
              <a:solidFill>
                <a:srgbClr val="F8FAFC"/>
              </a:solidFill>
              <a:latin typeface="Lato"/>
              <a:ea typeface="Lato"/>
              <a:cs typeface="Lato"/>
              <a:sym typeface="Lato"/>
            </a:endParaRPr>
          </a:p>
          <a:p>
            <a:pPr indent="0" lvl="0" marL="0" marR="0" rtl="0" algn="l">
              <a:lnSpc>
                <a:spcPct val="150000"/>
              </a:lnSpc>
              <a:spcBef>
                <a:spcPts val="0"/>
              </a:spcBef>
              <a:spcAft>
                <a:spcPts val="0"/>
              </a:spcAft>
              <a:buNone/>
            </a:pPr>
            <a:r>
              <a:rPr lang="en-US" sz="2106">
                <a:solidFill>
                  <a:srgbClr val="F8FAFC"/>
                </a:solidFill>
                <a:latin typeface="Lato"/>
                <a:ea typeface="Lato"/>
                <a:cs typeface="Lato"/>
                <a:sym typeface="Lato"/>
              </a:rPr>
              <a:t>Based on the prior suppositions we decided on generating the Non-functional requirements with a focus on speed, clarity and </a:t>
            </a:r>
            <a:r>
              <a:rPr lang="en-US" sz="2106">
                <a:solidFill>
                  <a:srgbClr val="F8FAFC"/>
                </a:solidFill>
                <a:latin typeface="Lato"/>
                <a:ea typeface="Lato"/>
                <a:cs typeface="Lato"/>
                <a:sym typeface="Lato"/>
              </a:rPr>
              <a:t>accessibility</a:t>
            </a:r>
            <a:endParaRPr sz="2106">
              <a:solidFill>
                <a:srgbClr val="F8FAFC"/>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102" name="Shape 102"/>
        <p:cNvGrpSpPr/>
        <p:nvPr/>
      </p:nvGrpSpPr>
      <p:grpSpPr>
        <a:xfrm>
          <a:off x="0" y="0"/>
          <a:ext cx="0" cy="0"/>
          <a:chOff x="0" y="0"/>
          <a:chExt cx="0" cy="0"/>
        </a:xfrm>
      </p:grpSpPr>
      <p:sp>
        <p:nvSpPr>
          <p:cNvPr id="103" name="Google Shape;103;p16"/>
          <p:cNvSpPr txBox="1"/>
          <p:nvPr/>
        </p:nvSpPr>
        <p:spPr>
          <a:xfrm>
            <a:off x="571500" y="571500"/>
            <a:ext cx="11601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FACC15"/>
                </a:solidFill>
                <a:latin typeface="Poppins SemiBold"/>
                <a:ea typeface="Poppins SemiBold"/>
                <a:cs typeface="Poppins SemiBold"/>
                <a:sym typeface="Poppins SemiBold"/>
              </a:rPr>
              <a:t>Non-functional Requirements</a:t>
            </a:r>
            <a:endParaRPr/>
          </a:p>
        </p:txBody>
      </p:sp>
      <p:sp>
        <p:nvSpPr>
          <p:cNvPr id="104" name="Google Shape;104;p16"/>
          <p:cNvSpPr txBox="1"/>
          <p:nvPr/>
        </p:nvSpPr>
        <p:spPr>
          <a:xfrm>
            <a:off x="571500" y="1461000"/>
            <a:ext cx="7571100" cy="5397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2106">
                <a:solidFill>
                  <a:srgbClr val="F8FAFC"/>
                </a:solidFill>
                <a:latin typeface="Lato"/>
                <a:ea typeface="Lato"/>
                <a:cs typeface="Lato"/>
                <a:sym typeface="Lato"/>
              </a:rPr>
              <a:t>The Non-functional requirements categories that we defined based on the demographic and client were:</a:t>
            </a:r>
            <a:endParaRPr sz="2106">
              <a:solidFill>
                <a:srgbClr val="F8FAFC"/>
              </a:solidFill>
              <a:latin typeface="Lato"/>
              <a:ea typeface="Lato"/>
              <a:cs typeface="Lato"/>
              <a:sym typeface="Lato"/>
            </a:endParaRPr>
          </a:p>
          <a:p>
            <a:pPr indent="-362318" lvl="0" marL="457200" marR="0" rtl="0" algn="l">
              <a:lnSpc>
                <a:spcPct val="150000"/>
              </a:lnSpc>
              <a:spcBef>
                <a:spcPts val="0"/>
              </a:spcBef>
              <a:spcAft>
                <a:spcPts val="0"/>
              </a:spcAft>
              <a:buClr>
                <a:srgbClr val="F8FAFC"/>
              </a:buClr>
              <a:buSzPts val="2106"/>
              <a:buFont typeface="Lato"/>
              <a:buChar char="●"/>
            </a:pPr>
            <a:r>
              <a:rPr lang="en-US" sz="2106">
                <a:solidFill>
                  <a:srgbClr val="F8FAFC"/>
                </a:solidFill>
                <a:latin typeface="Lato"/>
                <a:ea typeface="Lato"/>
                <a:cs typeface="Lato"/>
                <a:sym typeface="Lato"/>
              </a:rPr>
              <a:t>Usability</a:t>
            </a:r>
            <a:endParaRPr sz="2106">
              <a:solidFill>
                <a:srgbClr val="F8FAFC"/>
              </a:solidFill>
              <a:latin typeface="Lato"/>
              <a:ea typeface="Lato"/>
              <a:cs typeface="Lato"/>
              <a:sym typeface="Lato"/>
            </a:endParaRPr>
          </a:p>
          <a:p>
            <a:pPr indent="-362318" lvl="0" marL="457200" marR="0" rtl="0" algn="l">
              <a:lnSpc>
                <a:spcPct val="150000"/>
              </a:lnSpc>
              <a:spcBef>
                <a:spcPts val="0"/>
              </a:spcBef>
              <a:spcAft>
                <a:spcPts val="0"/>
              </a:spcAft>
              <a:buClr>
                <a:srgbClr val="F8FAFC"/>
              </a:buClr>
              <a:buSzPts val="2106"/>
              <a:buFont typeface="Lato"/>
              <a:buChar char="●"/>
            </a:pPr>
            <a:r>
              <a:rPr lang="en-US" sz="2106">
                <a:solidFill>
                  <a:srgbClr val="F8FAFC"/>
                </a:solidFill>
                <a:latin typeface="Lato"/>
                <a:ea typeface="Lato"/>
                <a:cs typeface="Lato"/>
                <a:sym typeface="Lato"/>
              </a:rPr>
              <a:t>Accessibility</a:t>
            </a:r>
            <a:endParaRPr sz="2106">
              <a:solidFill>
                <a:srgbClr val="F8FAFC"/>
              </a:solidFill>
              <a:latin typeface="Lato"/>
              <a:ea typeface="Lato"/>
              <a:cs typeface="Lato"/>
              <a:sym typeface="Lato"/>
            </a:endParaRPr>
          </a:p>
          <a:p>
            <a:pPr indent="-362318" lvl="0" marL="457200" marR="0" rtl="0" algn="l">
              <a:lnSpc>
                <a:spcPct val="150000"/>
              </a:lnSpc>
              <a:spcBef>
                <a:spcPts val="0"/>
              </a:spcBef>
              <a:spcAft>
                <a:spcPts val="0"/>
              </a:spcAft>
              <a:buClr>
                <a:srgbClr val="F8FAFC"/>
              </a:buClr>
              <a:buSzPts val="2106"/>
              <a:buFont typeface="Lato"/>
              <a:buChar char="●"/>
            </a:pPr>
            <a:r>
              <a:rPr lang="en-US" sz="2106">
                <a:solidFill>
                  <a:srgbClr val="F8FAFC"/>
                </a:solidFill>
                <a:latin typeface="Lato"/>
                <a:ea typeface="Lato"/>
                <a:cs typeface="Lato"/>
                <a:sym typeface="Lato"/>
              </a:rPr>
              <a:t>Responsive design</a:t>
            </a:r>
            <a:endParaRPr sz="2106">
              <a:solidFill>
                <a:srgbClr val="F8FAFC"/>
              </a:solidFill>
              <a:latin typeface="Lato"/>
              <a:ea typeface="Lato"/>
              <a:cs typeface="Lato"/>
              <a:sym typeface="Lato"/>
            </a:endParaRPr>
          </a:p>
          <a:p>
            <a:pPr indent="-362318" lvl="0" marL="457200" marR="0" rtl="0" algn="l">
              <a:lnSpc>
                <a:spcPct val="150000"/>
              </a:lnSpc>
              <a:spcBef>
                <a:spcPts val="0"/>
              </a:spcBef>
              <a:spcAft>
                <a:spcPts val="0"/>
              </a:spcAft>
              <a:buClr>
                <a:srgbClr val="F8FAFC"/>
              </a:buClr>
              <a:buSzPts val="2106"/>
              <a:buFont typeface="Lato"/>
              <a:buChar char="●"/>
            </a:pPr>
            <a:r>
              <a:rPr lang="en-US" sz="2106">
                <a:solidFill>
                  <a:srgbClr val="F8FAFC"/>
                </a:solidFill>
                <a:latin typeface="Lato"/>
                <a:ea typeface="Lato"/>
                <a:cs typeface="Lato"/>
                <a:sym typeface="Lato"/>
              </a:rPr>
              <a:t>Visual consistency</a:t>
            </a:r>
            <a:endParaRPr sz="2106">
              <a:solidFill>
                <a:srgbClr val="F8FAFC"/>
              </a:solidFill>
              <a:latin typeface="Lato"/>
              <a:ea typeface="Lato"/>
              <a:cs typeface="Lato"/>
              <a:sym typeface="Lato"/>
            </a:endParaRPr>
          </a:p>
          <a:p>
            <a:pPr indent="-362318" lvl="0" marL="457200" marR="0" rtl="0" algn="l">
              <a:lnSpc>
                <a:spcPct val="150000"/>
              </a:lnSpc>
              <a:spcBef>
                <a:spcPts val="0"/>
              </a:spcBef>
              <a:spcAft>
                <a:spcPts val="0"/>
              </a:spcAft>
              <a:buClr>
                <a:srgbClr val="F8FAFC"/>
              </a:buClr>
              <a:buSzPts val="2106"/>
              <a:buFont typeface="Lato"/>
              <a:buChar char="●"/>
            </a:pPr>
            <a:r>
              <a:rPr lang="en-US" sz="2106">
                <a:solidFill>
                  <a:srgbClr val="F8FAFC"/>
                </a:solidFill>
                <a:latin typeface="Lato"/>
                <a:ea typeface="Lato"/>
                <a:cs typeface="Lato"/>
                <a:sym typeface="Lato"/>
              </a:rPr>
              <a:t>Feedback and interaction</a:t>
            </a:r>
            <a:endParaRPr sz="2106">
              <a:solidFill>
                <a:srgbClr val="F8FAFC"/>
              </a:solidFill>
              <a:latin typeface="Lato"/>
              <a:ea typeface="Lato"/>
              <a:cs typeface="Lato"/>
              <a:sym typeface="Lato"/>
            </a:endParaRPr>
          </a:p>
          <a:p>
            <a:pPr indent="-362318" lvl="0" marL="457200" marR="0" rtl="0" algn="l">
              <a:lnSpc>
                <a:spcPct val="150000"/>
              </a:lnSpc>
              <a:spcBef>
                <a:spcPts val="0"/>
              </a:spcBef>
              <a:spcAft>
                <a:spcPts val="0"/>
              </a:spcAft>
              <a:buClr>
                <a:srgbClr val="F8FAFC"/>
              </a:buClr>
              <a:buSzPts val="2106"/>
              <a:buFont typeface="Lato"/>
              <a:buChar char="●"/>
            </a:pPr>
            <a:r>
              <a:rPr lang="en-US" sz="2106">
                <a:solidFill>
                  <a:srgbClr val="F8FAFC"/>
                </a:solidFill>
                <a:latin typeface="Lato"/>
                <a:ea typeface="Lato"/>
                <a:cs typeface="Lato"/>
                <a:sym typeface="Lato"/>
              </a:rPr>
              <a:t>Navigation</a:t>
            </a:r>
            <a:endParaRPr sz="2106">
              <a:solidFill>
                <a:srgbClr val="F8FAFC"/>
              </a:solidFill>
              <a:latin typeface="Lato"/>
              <a:ea typeface="Lato"/>
              <a:cs typeface="Lato"/>
              <a:sym typeface="Lato"/>
            </a:endParaRPr>
          </a:p>
          <a:p>
            <a:pPr indent="-362318" lvl="0" marL="457200" marR="0" rtl="0" algn="l">
              <a:lnSpc>
                <a:spcPct val="150000"/>
              </a:lnSpc>
              <a:spcBef>
                <a:spcPts val="0"/>
              </a:spcBef>
              <a:spcAft>
                <a:spcPts val="0"/>
              </a:spcAft>
              <a:buClr>
                <a:srgbClr val="F8FAFC"/>
              </a:buClr>
              <a:buSzPts val="2106"/>
              <a:buFont typeface="Lato"/>
              <a:buChar char="●"/>
            </a:pPr>
            <a:r>
              <a:rPr lang="en-US" sz="2106">
                <a:solidFill>
                  <a:srgbClr val="F8FAFC"/>
                </a:solidFill>
                <a:latin typeface="Lato"/>
                <a:ea typeface="Lato"/>
                <a:cs typeface="Lato"/>
                <a:sym typeface="Lato"/>
              </a:rPr>
              <a:t>Content and readability</a:t>
            </a:r>
            <a:endParaRPr sz="2106">
              <a:solidFill>
                <a:srgbClr val="F8FAFC"/>
              </a:solidFill>
              <a:latin typeface="Lato"/>
              <a:ea typeface="Lato"/>
              <a:cs typeface="Lato"/>
              <a:sym typeface="Lato"/>
            </a:endParaRPr>
          </a:p>
          <a:p>
            <a:pPr indent="-362318" lvl="0" marL="457200" marR="0" rtl="0" algn="l">
              <a:lnSpc>
                <a:spcPct val="150000"/>
              </a:lnSpc>
              <a:spcBef>
                <a:spcPts val="0"/>
              </a:spcBef>
              <a:spcAft>
                <a:spcPts val="0"/>
              </a:spcAft>
              <a:buClr>
                <a:srgbClr val="F8FAFC"/>
              </a:buClr>
              <a:buSzPts val="2106"/>
              <a:buFont typeface="Lato"/>
              <a:buChar char="●"/>
            </a:pPr>
            <a:r>
              <a:rPr lang="en-US" sz="2106">
                <a:solidFill>
                  <a:srgbClr val="F8FAFC"/>
                </a:solidFill>
                <a:latin typeface="Lato"/>
                <a:ea typeface="Lato"/>
                <a:cs typeface="Lato"/>
                <a:sym typeface="Lato"/>
              </a:rPr>
              <a:t>Use case specific</a:t>
            </a:r>
            <a:endParaRPr sz="2106">
              <a:solidFill>
                <a:srgbClr val="F8FAFC"/>
              </a:solidFill>
              <a:latin typeface="Lato"/>
              <a:ea typeface="Lato"/>
              <a:cs typeface="Lato"/>
              <a:sym typeface="Lato"/>
            </a:endParaRPr>
          </a:p>
          <a:p>
            <a:pPr indent="-362318" lvl="0" marL="457200" marR="0" rtl="0" algn="l">
              <a:lnSpc>
                <a:spcPct val="150000"/>
              </a:lnSpc>
              <a:spcBef>
                <a:spcPts val="0"/>
              </a:spcBef>
              <a:spcAft>
                <a:spcPts val="0"/>
              </a:spcAft>
              <a:buClr>
                <a:srgbClr val="F8FAFC"/>
              </a:buClr>
              <a:buSzPts val="2106"/>
              <a:buFont typeface="Lato"/>
              <a:buChar char="●"/>
            </a:pPr>
            <a:r>
              <a:rPr lang="en-US" sz="2106">
                <a:solidFill>
                  <a:srgbClr val="F8FAFC"/>
                </a:solidFill>
                <a:latin typeface="Lato"/>
                <a:ea typeface="Lato"/>
                <a:cs typeface="Lato"/>
                <a:sym typeface="Lato"/>
              </a:rPr>
              <a:t>Notification and alerts</a:t>
            </a:r>
            <a:endParaRPr sz="2106">
              <a:solidFill>
                <a:srgbClr val="F8FAFC"/>
              </a:solidFill>
              <a:latin typeface="Lato"/>
              <a:ea typeface="Lato"/>
              <a:cs typeface="Lato"/>
              <a:sym typeface="Lato"/>
            </a:endParaRPr>
          </a:p>
        </p:txBody>
      </p:sp>
      <p:sp>
        <p:nvSpPr>
          <p:cNvPr id="105" name="Google Shape;105;p16"/>
          <p:cNvSpPr txBox="1"/>
          <p:nvPr/>
        </p:nvSpPr>
        <p:spPr>
          <a:xfrm>
            <a:off x="5769351" y="2349900"/>
            <a:ext cx="5692800" cy="309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600">
                <a:solidFill>
                  <a:schemeClr val="lt1"/>
                </a:solidFill>
                <a:latin typeface="Calibri"/>
                <a:ea typeface="Calibri"/>
                <a:cs typeface="Calibri"/>
                <a:sym typeface="Calibri"/>
              </a:rPr>
              <a:t>Usability specific:</a:t>
            </a:r>
            <a:endParaRPr sz="2600">
              <a:solidFill>
                <a:schemeClr val="lt1"/>
              </a:solidFill>
              <a:latin typeface="Calibri"/>
              <a:ea typeface="Calibri"/>
              <a:cs typeface="Calibri"/>
              <a:sym typeface="Calibri"/>
            </a:endParaRPr>
          </a:p>
          <a:p>
            <a:pPr indent="-393700" lvl="0" marL="457200" rtl="0" algn="l">
              <a:spcBef>
                <a:spcPts val="0"/>
              </a:spcBef>
              <a:spcAft>
                <a:spcPts val="0"/>
              </a:spcAft>
              <a:buClr>
                <a:schemeClr val="lt1"/>
              </a:buClr>
              <a:buSzPts val="2600"/>
              <a:buFont typeface="Calibri"/>
              <a:buChar char="●"/>
            </a:pPr>
            <a:r>
              <a:rPr lang="en-US" sz="2600">
                <a:solidFill>
                  <a:schemeClr val="lt1"/>
                </a:solidFill>
                <a:latin typeface="Calibri"/>
                <a:ea typeface="Calibri"/>
                <a:cs typeface="Calibri"/>
                <a:sym typeface="Calibri"/>
              </a:rPr>
              <a:t>Intuitiveness</a:t>
            </a:r>
            <a:endParaRPr sz="2600">
              <a:solidFill>
                <a:schemeClr val="lt1"/>
              </a:solidFill>
              <a:latin typeface="Calibri"/>
              <a:ea typeface="Calibri"/>
              <a:cs typeface="Calibri"/>
              <a:sym typeface="Calibri"/>
            </a:endParaRPr>
          </a:p>
          <a:p>
            <a:pPr indent="-393700" lvl="0" marL="457200" rtl="0" algn="l">
              <a:spcBef>
                <a:spcPts val="0"/>
              </a:spcBef>
              <a:spcAft>
                <a:spcPts val="0"/>
              </a:spcAft>
              <a:buClr>
                <a:schemeClr val="lt1"/>
              </a:buClr>
              <a:buSzPts val="2600"/>
              <a:buFont typeface="Calibri"/>
              <a:buChar char="●"/>
            </a:pPr>
            <a:r>
              <a:rPr lang="en-US" sz="2600">
                <a:solidFill>
                  <a:schemeClr val="lt1"/>
                </a:solidFill>
                <a:latin typeface="Calibri"/>
                <a:ea typeface="Calibri"/>
                <a:cs typeface="Calibri"/>
                <a:sym typeface="Calibri"/>
              </a:rPr>
              <a:t>Error prevention</a:t>
            </a:r>
            <a:endParaRPr sz="2600">
              <a:solidFill>
                <a:schemeClr val="lt1"/>
              </a:solidFill>
              <a:latin typeface="Calibri"/>
              <a:ea typeface="Calibri"/>
              <a:cs typeface="Calibri"/>
              <a:sym typeface="Calibri"/>
            </a:endParaRPr>
          </a:p>
          <a:p>
            <a:pPr indent="-393700" lvl="0" marL="457200" rtl="0" algn="l">
              <a:spcBef>
                <a:spcPts val="0"/>
              </a:spcBef>
              <a:spcAft>
                <a:spcPts val="0"/>
              </a:spcAft>
              <a:buClr>
                <a:schemeClr val="lt1"/>
              </a:buClr>
              <a:buSzPts val="2600"/>
              <a:buFont typeface="Calibri"/>
              <a:buChar char="●"/>
            </a:pPr>
            <a:r>
              <a:rPr lang="en-US" sz="2600">
                <a:solidFill>
                  <a:schemeClr val="lt1"/>
                </a:solidFill>
                <a:latin typeface="Calibri"/>
                <a:ea typeface="Calibri"/>
                <a:cs typeface="Calibri"/>
                <a:sym typeface="Calibri"/>
              </a:rPr>
              <a:t>Error recovery</a:t>
            </a:r>
            <a:endParaRPr sz="2600">
              <a:solidFill>
                <a:schemeClr val="lt1"/>
              </a:solidFill>
              <a:latin typeface="Calibri"/>
              <a:ea typeface="Calibri"/>
              <a:cs typeface="Calibri"/>
              <a:sym typeface="Calibri"/>
            </a:endParaRPr>
          </a:p>
          <a:p>
            <a:pPr indent="-393700" lvl="0" marL="457200" rtl="0" algn="l">
              <a:spcBef>
                <a:spcPts val="0"/>
              </a:spcBef>
              <a:spcAft>
                <a:spcPts val="0"/>
              </a:spcAft>
              <a:buClr>
                <a:schemeClr val="lt1"/>
              </a:buClr>
              <a:buSzPts val="2600"/>
              <a:buFont typeface="Calibri"/>
              <a:buChar char="●"/>
            </a:pPr>
            <a:r>
              <a:rPr lang="en-US" sz="2600">
                <a:solidFill>
                  <a:schemeClr val="lt1"/>
                </a:solidFill>
                <a:latin typeface="Calibri"/>
                <a:ea typeface="Calibri"/>
                <a:cs typeface="Calibri"/>
                <a:sym typeface="Calibri"/>
              </a:rPr>
              <a:t>Consistent navigation</a:t>
            </a:r>
            <a:endParaRPr sz="2600">
              <a:solidFill>
                <a:schemeClr val="lt1"/>
              </a:solidFill>
              <a:latin typeface="Calibri"/>
              <a:ea typeface="Calibri"/>
              <a:cs typeface="Calibri"/>
              <a:sym typeface="Calibri"/>
            </a:endParaRPr>
          </a:p>
          <a:p>
            <a:pPr indent="-393700" lvl="0" marL="457200" rtl="0" algn="l">
              <a:spcBef>
                <a:spcPts val="0"/>
              </a:spcBef>
              <a:spcAft>
                <a:spcPts val="0"/>
              </a:spcAft>
              <a:buClr>
                <a:schemeClr val="lt1"/>
              </a:buClr>
              <a:buSzPts val="2600"/>
              <a:buFont typeface="Calibri"/>
              <a:buChar char="●"/>
            </a:pPr>
            <a:r>
              <a:rPr lang="en-US" sz="2600">
                <a:solidFill>
                  <a:schemeClr val="lt1"/>
                </a:solidFill>
                <a:latin typeface="Calibri"/>
                <a:ea typeface="Calibri"/>
                <a:cs typeface="Calibri"/>
                <a:sym typeface="Calibri"/>
              </a:rPr>
              <a:t>Navigation depth</a:t>
            </a:r>
            <a:endParaRPr sz="2600">
              <a:solidFill>
                <a:schemeClr val="lt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109" name="Shape 109"/>
        <p:cNvGrpSpPr/>
        <p:nvPr/>
      </p:nvGrpSpPr>
      <p:grpSpPr>
        <a:xfrm>
          <a:off x="0" y="0"/>
          <a:ext cx="0" cy="0"/>
          <a:chOff x="0" y="0"/>
          <a:chExt cx="0" cy="0"/>
        </a:xfrm>
      </p:grpSpPr>
      <p:sp>
        <p:nvSpPr>
          <p:cNvPr id="110" name="Google Shape;110;p17"/>
          <p:cNvSpPr/>
          <p:nvPr/>
        </p:nvSpPr>
        <p:spPr>
          <a:xfrm>
            <a:off x="5524500" y="2519362"/>
            <a:ext cx="1143000" cy="47625"/>
          </a:xfrm>
          <a:prstGeom prst="rect">
            <a:avLst/>
          </a:prstGeom>
          <a:solidFill>
            <a:srgbClr val="FACC1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 name="Google Shape;111;p17"/>
          <p:cNvSpPr txBox="1"/>
          <p:nvPr/>
        </p:nvSpPr>
        <p:spPr>
          <a:xfrm>
            <a:off x="1415414" y="2852737"/>
            <a:ext cx="9361170" cy="8572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500" u="none" cap="none" strike="noStrike">
                <a:solidFill>
                  <a:srgbClr val="FACC15"/>
                </a:solidFill>
                <a:latin typeface="Poppins"/>
                <a:ea typeface="Poppins"/>
                <a:cs typeface="Poppins"/>
                <a:sym typeface="Poppins"/>
              </a:rPr>
              <a:t>Advances and Readjustments</a:t>
            </a:r>
            <a:endParaRPr/>
          </a:p>
        </p:txBody>
      </p:sp>
      <p:sp>
        <p:nvSpPr>
          <p:cNvPr id="112" name="Google Shape;112;p17"/>
          <p:cNvSpPr txBox="1"/>
          <p:nvPr/>
        </p:nvSpPr>
        <p:spPr>
          <a:xfrm>
            <a:off x="1914525" y="4090987"/>
            <a:ext cx="8362950" cy="342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800" u="none" cap="none" strike="noStrike">
                <a:solidFill>
                  <a:srgbClr val="E2E8F0"/>
                </a:solidFill>
                <a:latin typeface="Lato"/>
                <a:ea typeface="Lato"/>
                <a:cs typeface="Lato"/>
                <a:sym typeface="Lato"/>
              </a:rPr>
              <a:t>Summary of the most significant changes made between the three project deliveries.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116" name="Shape 116"/>
        <p:cNvGrpSpPr/>
        <p:nvPr/>
      </p:nvGrpSpPr>
      <p:grpSpPr>
        <a:xfrm>
          <a:off x="0" y="0"/>
          <a:ext cx="0" cy="0"/>
          <a:chOff x="0" y="0"/>
          <a:chExt cx="0" cy="0"/>
        </a:xfrm>
      </p:grpSpPr>
      <p:sp>
        <p:nvSpPr>
          <p:cNvPr id="117" name="Google Shape;117;p18"/>
          <p:cNvSpPr txBox="1"/>
          <p:nvPr/>
        </p:nvSpPr>
        <p:spPr>
          <a:xfrm>
            <a:off x="441750" y="386150"/>
            <a:ext cx="116016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Font typeface="Arial"/>
              <a:buNone/>
            </a:pPr>
            <a:r>
              <a:rPr b="1" lang="en-US" sz="3000">
                <a:solidFill>
                  <a:srgbClr val="FACC15"/>
                </a:solidFill>
                <a:latin typeface="Poppins SemiBold"/>
                <a:ea typeface="Poppins SemiBold"/>
                <a:cs typeface="Poppins SemiBold"/>
                <a:sym typeface="Poppins SemiBold"/>
              </a:rPr>
              <a:t>Significant Project Changes (1st Version)</a:t>
            </a:r>
            <a:endParaRPr>
              <a:solidFill>
                <a:schemeClr val="dk1"/>
              </a:solidFill>
            </a:endParaRPr>
          </a:p>
          <a:p>
            <a:pPr indent="0" lvl="0" marL="0" marR="0" rtl="0" algn="l">
              <a:spcBef>
                <a:spcPts val="0"/>
              </a:spcBef>
              <a:spcAft>
                <a:spcPts val="0"/>
              </a:spcAft>
              <a:buNone/>
            </a:pPr>
            <a:r>
              <a:t/>
            </a:r>
            <a:endParaRPr b="1" sz="3000">
              <a:solidFill>
                <a:srgbClr val="FACC15"/>
              </a:solidFill>
              <a:latin typeface="Poppins SemiBold"/>
              <a:ea typeface="Poppins SemiBold"/>
              <a:cs typeface="Poppins SemiBold"/>
              <a:sym typeface="Poppins SemiBold"/>
            </a:endParaRPr>
          </a:p>
        </p:txBody>
      </p:sp>
      <p:pic>
        <p:nvPicPr>
          <p:cNvPr id="118" name="Google Shape;118;p18"/>
          <p:cNvPicPr preferRelativeResize="0"/>
          <p:nvPr/>
        </p:nvPicPr>
        <p:blipFill>
          <a:blip r:embed="rId3">
            <a:alphaModFix/>
          </a:blip>
          <a:stretch>
            <a:fillRect/>
          </a:stretch>
        </p:blipFill>
        <p:spPr>
          <a:xfrm>
            <a:off x="563124" y="1148250"/>
            <a:ext cx="5608052" cy="2933501"/>
          </a:xfrm>
          <a:prstGeom prst="rect">
            <a:avLst/>
          </a:prstGeom>
          <a:noFill/>
          <a:ln>
            <a:noFill/>
          </a:ln>
        </p:spPr>
      </p:pic>
      <p:pic>
        <p:nvPicPr>
          <p:cNvPr id="119" name="Google Shape;119;p18"/>
          <p:cNvPicPr preferRelativeResize="0"/>
          <p:nvPr/>
        </p:nvPicPr>
        <p:blipFill>
          <a:blip r:embed="rId4">
            <a:alphaModFix/>
          </a:blip>
          <a:stretch>
            <a:fillRect/>
          </a:stretch>
        </p:blipFill>
        <p:spPr>
          <a:xfrm>
            <a:off x="6171174" y="1148252"/>
            <a:ext cx="5608052" cy="2913593"/>
          </a:xfrm>
          <a:prstGeom prst="rect">
            <a:avLst/>
          </a:prstGeom>
          <a:noFill/>
          <a:ln>
            <a:noFill/>
          </a:ln>
        </p:spPr>
      </p:pic>
      <p:pic>
        <p:nvPicPr>
          <p:cNvPr id="120" name="Google Shape;120;p18"/>
          <p:cNvPicPr preferRelativeResize="0"/>
          <p:nvPr/>
        </p:nvPicPr>
        <p:blipFill>
          <a:blip r:embed="rId5">
            <a:alphaModFix/>
          </a:blip>
          <a:stretch>
            <a:fillRect/>
          </a:stretch>
        </p:blipFill>
        <p:spPr>
          <a:xfrm>
            <a:off x="6171177" y="4061844"/>
            <a:ext cx="4751477" cy="2491355"/>
          </a:xfrm>
          <a:prstGeom prst="rect">
            <a:avLst/>
          </a:prstGeom>
          <a:noFill/>
          <a:ln>
            <a:noFill/>
          </a:ln>
        </p:spPr>
      </p:pic>
      <p:pic>
        <p:nvPicPr>
          <p:cNvPr id="121" name="Google Shape;121;p18"/>
          <p:cNvPicPr preferRelativeResize="0"/>
          <p:nvPr/>
        </p:nvPicPr>
        <p:blipFill>
          <a:blip r:embed="rId6">
            <a:alphaModFix/>
          </a:blip>
          <a:stretch>
            <a:fillRect/>
          </a:stretch>
        </p:blipFill>
        <p:spPr>
          <a:xfrm>
            <a:off x="1419700" y="4081750"/>
            <a:ext cx="4751474" cy="250960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125" name="Shape 125"/>
        <p:cNvGrpSpPr/>
        <p:nvPr/>
      </p:nvGrpSpPr>
      <p:grpSpPr>
        <a:xfrm>
          <a:off x="0" y="0"/>
          <a:ext cx="0" cy="0"/>
          <a:chOff x="0" y="0"/>
          <a:chExt cx="0" cy="0"/>
        </a:xfrm>
      </p:grpSpPr>
      <p:sp>
        <p:nvSpPr>
          <p:cNvPr id="126" name="Google Shape;126;p19"/>
          <p:cNvSpPr txBox="1"/>
          <p:nvPr/>
        </p:nvSpPr>
        <p:spPr>
          <a:xfrm>
            <a:off x="590400" y="441775"/>
            <a:ext cx="11601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FACC15"/>
                </a:solidFill>
                <a:latin typeface="Poppins SemiBold"/>
                <a:ea typeface="Poppins SemiBold"/>
                <a:cs typeface="Poppins SemiBold"/>
                <a:sym typeface="Poppins SemiBold"/>
              </a:rPr>
              <a:t>Significant Project Changes</a:t>
            </a:r>
            <a:r>
              <a:rPr b="1" lang="en-US" sz="3000">
                <a:solidFill>
                  <a:srgbClr val="FACC15"/>
                </a:solidFill>
                <a:latin typeface="Poppins SemiBold"/>
                <a:ea typeface="Poppins SemiBold"/>
                <a:cs typeface="Poppins SemiBold"/>
                <a:sym typeface="Poppins SemiBold"/>
              </a:rPr>
              <a:t> (1st Version)</a:t>
            </a:r>
            <a:endParaRPr/>
          </a:p>
        </p:txBody>
      </p:sp>
      <p:sp>
        <p:nvSpPr>
          <p:cNvPr id="127" name="Google Shape;127;p19"/>
          <p:cNvSpPr txBox="1"/>
          <p:nvPr/>
        </p:nvSpPr>
        <p:spPr>
          <a:xfrm>
            <a:off x="860575" y="1248700"/>
            <a:ext cx="7523700" cy="3936300"/>
          </a:xfrm>
          <a:prstGeom prst="rect">
            <a:avLst/>
          </a:prstGeom>
          <a:noFill/>
          <a:ln>
            <a:noFill/>
          </a:ln>
        </p:spPr>
        <p:txBody>
          <a:bodyPr anchorCtr="0" anchor="t" bIns="91425" lIns="91425" spcFirstLastPara="1" rIns="91425" wrap="square" tIns="91425">
            <a:spAutoFit/>
          </a:bodyPr>
          <a:lstStyle/>
          <a:p>
            <a:pPr indent="0" lvl="0" marL="0" rtl="0" algn="l">
              <a:lnSpc>
                <a:spcPct val="112500"/>
              </a:lnSpc>
              <a:spcBef>
                <a:spcPts val="0"/>
              </a:spcBef>
              <a:spcAft>
                <a:spcPts val="0"/>
              </a:spcAft>
              <a:buNone/>
            </a:pPr>
            <a:r>
              <a:rPr lang="en-US" sz="2850">
                <a:solidFill>
                  <a:srgbClr val="F8FAFC"/>
                </a:solidFill>
                <a:latin typeface="Lato"/>
                <a:ea typeface="Lato"/>
                <a:cs typeface="Lato"/>
                <a:sym typeface="Lato"/>
              </a:rPr>
              <a:t> This is the first version based on the functional requirements</a:t>
            </a:r>
            <a:endParaRPr sz="2850">
              <a:solidFill>
                <a:srgbClr val="F8FAFC"/>
              </a:solidFill>
              <a:latin typeface="Lato"/>
              <a:ea typeface="Lato"/>
              <a:cs typeface="Lato"/>
              <a:sym typeface="Lato"/>
            </a:endParaRPr>
          </a:p>
          <a:p>
            <a:pPr indent="0" lvl="0" marL="0" rtl="0" algn="l">
              <a:lnSpc>
                <a:spcPct val="115000"/>
              </a:lnSpc>
              <a:spcBef>
                <a:spcPts val="1200"/>
              </a:spcBef>
              <a:spcAft>
                <a:spcPts val="0"/>
              </a:spcAft>
              <a:buNone/>
            </a:pPr>
            <a:r>
              <a:rPr lang="en-US" sz="2850">
                <a:solidFill>
                  <a:srgbClr val="F8FAFC"/>
                </a:solidFill>
                <a:latin typeface="Lato"/>
                <a:ea typeface="Lato"/>
                <a:cs typeface="Lato"/>
                <a:sym typeface="Lato"/>
              </a:rPr>
              <a:t>It includes:</a:t>
            </a:r>
            <a:endParaRPr sz="2850">
              <a:solidFill>
                <a:srgbClr val="F8FAFC"/>
              </a:solidFill>
              <a:latin typeface="Lato"/>
              <a:ea typeface="Lato"/>
              <a:cs typeface="Lato"/>
              <a:sym typeface="Lato"/>
            </a:endParaRPr>
          </a:p>
          <a:p>
            <a:pPr indent="-409575" lvl="0" marL="457200" rtl="0" algn="l">
              <a:lnSpc>
                <a:spcPct val="115000"/>
              </a:lnSpc>
              <a:spcBef>
                <a:spcPts val="1200"/>
              </a:spcBef>
              <a:spcAft>
                <a:spcPts val="0"/>
              </a:spcAft>
              <a:buClr>
                <a:srgbClr val="F8FAFC"/>
              </a:buClr>
              <a:buSzPts val="2850"/>
              <a:buFont typeface="Lato"/>
              <a:buChar char="●"/>
            </a:pPr>
            <a:r>
              <a:rPr lang="en-US" sz="2850">
                <a:solidFill>
                  <a:srgbClr val="F8FAFC"/>
                </a:solidFill>
                <a:latin typeface="Lato"/>
                <a:ea typeface="Lato"/>
                <a:cs typeface="Lato"/>
                <a:sym typeface="Lato"/>
              </a:rPr>
              <a:t>Landing page</a:t>
            </a:r>
            <a:endParaRPr sz="2850">
              <a:solidFill>
                <a:srgbClr val="F8FAFC"/>
              </a:solidFill>
              <a:latin typeface="Lato"/>
              <a:ea typeface="Lato"/>
              <a:cs typeface="Lato"/>
              <a:sym typeface="Lato"/>
            </a:endParaRPr>
          </a:p>
          <a:p>
            <a:pPr indent="-409575" lvl="0" marL="457200" rtl="0" algn="l">
              <a:lnSpc>
                <a:spcPct val="115000"/>
              </a:lnSpc>
              <a:spcBef>
                <a:spcPts val="0"/>
              </a:spcBef>
              <a:spcAft>
                <a:spcPts val="0"/>
              </a:spcAft>
              <a:buClr>
                <a:srgbClr val="F8FAFC"/>
              </a:buClr>
              <a:buSzPts val="2850"/>
              <a:buFont typeface="Lato"/>
              <a:buChar char="●"/>
            </a:pPr>
            <a:r>
              <a:rPr lang="en-US" sz="2850">
                <a:solidFill>
                  <a:srgbClr val="F8FAFC"/>
                </a:solidFill>
                <a:latin typeface="Lato"/>
                <a:ea typeface="Lato"/>
                <a:cs typeface="Lato"/>
                <a:sym typeface="Lato"/>
              </a:rPr>
              <a:t>A registration form</a:t>
            </a:r>
            <a:endParaRPr sz="2850">
              <a:solidFill>
                <a:srgbClr val="F8FAFC"/>
              </a:solidFill>
              <a:latin typeface="Lato"/>
              <a:ea typeface="Lato"/>
              <a:cs typeface="Lato"/>
              <a:sym typeface="Lato"/>
            </a:endParaRPr>
          </a:p>
          <a:p>
            <a:pPr indent="-409575" lvl="0" marL="457200" rtl="0" algn="l">
              <a:lnSpc>
                <a:spcPct val="115000"/>
              </a:lnSpc>
              <a:spcBef>
                <a:spcPts val="0"/>
              </a:spcBef>
              <a:spcAft>
                <a:spcPts val="0"/>
              </a:spcAft>
              <a:buClr>
                <a:srgbClr val="F8FAFC"/>
              </a:buClr>
              <a:buSzPts val="2850"/>
              <a:buFont typeface="Lato"/>
              <a:buChar char="●"/>
            </a:pPr>
            <a:r>
              <a:rPr lang="en-US" sz="2850">
                <a:solidFill>
                  <a:srgbClr val="F8FAFC"/>
                </a:solidFill>
                <a:latin typeface="Lato"/>
                <a:ea typeface="Lato"/>
                <a:cs typeface="Lato"/>
                <a:sym typeface="Lato"/>
              </a:rPr>
              <a:t>A course registration section</a:t>
            </a:r>
            <a:endParaRPr sz="2850">
              <a:solidFill>
                <a:srgbClr val="F8FAFC"/>
              </a:solidFill>
              <a:latin typeface="Lato"/>
              <a:ea typeface="Lato"/>
              <a:cs typeface="Lato"/>
              <a:sym typeface="Lato"/>
            </a:endParaRPr>
          </a:p>
          <a:p>
            <a:pPr indent="-409575" lvl="0" marL="457200" rtl="0" algn="l">
              <a:lnSpc>
                <a:spcPct val="115000"/>
              </a:lnSpc>
              <a:spcBef>
                <a:spcPts val="0"/>
              </a:spcBef>
              <a:spcAft>
                <a:spcPts val="0"/>
              </a:spcAft>
              <a:buClr>
                <a:srgbClr val="F8FAFC"/>
              </a:buClr>
              <a:buSzPts val="2850"/>
              <a:buFont typeface="Lato"/>
              <a:buChar char="●"/>
            </a:pPr>
            <a:r>
              <a:rPr lang="en-US" sz="2850">
                <a:solidFill>
                  <a:srgbClr val="F8FAFC"/>
                </a:solidFill>
                <a:latin typeface="Lato"/>
                <a:ea typeface="Lato"/>
                <a:cs typeface="Lato"/>
                <a:sym typeface="Lato"/>
              </a:rPr>
              <a:t>Course section</a:t>
            </a:r>
            <a:endParaRPr sz="29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131" name="Shape 131"/>
        <p:cNvGrpSpPr/>
        <p:nvPr/>
      </p:nvGrpSpPr>
      <p:grpSpPr>
        <a:xfrm>
          <a:off x="0" y="0"/>
          <a:ext cx="0" cy="0"/>
          <a:chOff x="0" y="0"/>
          <a:chExt cx="0" cy="0"/>
        </a:xfrm>
      </p:grpSpPr>
      <p:sp>
        <p:nvSpPr>
          <p:cNvPr id="132" name="Google Shape;132;p20"/>
          <p:cNvSpPr txBox="1"/>
          <p:nvPr/>
        </p:nvSpPr>
        <p:spPr>
          <a:xfrm>
            <a:off x="590400" y="441775"/>
            <a:ext cx="116016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Font typeface="Arial"/>
              <a:buNone/>
            </a:pPr>
            <a:r>
              <a:rPr b="1" lang="en-US" sz="3000">
                <a:solidFill>
                  <a:srgbClr val="FACC15"/>
                </a:solidFill>
                <a:latin typeface="Poppins SemiBold"/>
                <a:ea typeface="Poppins SemiBold"/>
                <a:cs typeface="Poppins SemiBold"/>
                <a:sym typeface="Poppins SemiBold"/>
              </a:rPr>
              <a:t>Significant Project Changes (2nd Version)</a:t>
            </a:r>
            <a:endParaRPr>
              <a:solidFill>
                <a:schemeClr val="dk1"/>
              </a:solidFill>
            </a:endParaRPr>
          </a:p>
          <a:p>
            <a:pPr indent="0" lvl="0" marL="0" marR="0" rtl="0" algn="l">
              <a:spcBef>
                <a:spcPts val="0"/>
              </a:spcBef>
              <a:spcAft>
                <a:spcPts val="0"/>
              </a:spcAft>
              <a:buNone/>
            </a:pPr>
            <a:r>
              <a:t/>
            </a:r>
            <a:endParaRPr b="1" sz="3000">
              <a:solidFill>
                <a:srgbClr val="FACC15"/>
              </a:solidFill>
              <a:latin typeface="Poppins SemiBold"/>
              <a:ea typeface="Poppins SemiBold"/>
              <a:cs typeface="Poppins SemiBold"/>
              <a:sym typeface="Poppins SemiBold"/>
            </a:endParaRPr>
          </a:p>
        </p:txBody>
      </p:sp>
      <p:pic>
        <p:nvPicPr>
          <p:cNvPr id="133" name="Google Shape;133;p20"/>
          <p:cNvPicPr preferRelativeResize="0"/>
          <p:nvPr/>
        </p:nvPicPr>
        <p:blipFill>
          <a:blip r:embed="rId3">
            <a:alphaModFix/>
          </a:blip>
          <a:stretch>
            <a:fillRect/>
          </a:stretch>
        </p:blipFill>
        <p:spPr>
          <a:xfrm>
            <a:off x="1285475" y="1365175"/>
            <a:ext cx="4530999" cy="2675476"/>
          </a:xfrm>
          <a:prstGeom prst="rect">
            <a:avLst/>
          </a:prstGeom>
          <a:noFill/>
          <a:ln>
            <a:noFill/>
          </a:ln>
        </p:spPr>
      </p:pic>
      <p:pic>
        <p:nvPicPr>
          <p:cNvPr id="134" name="Google Shape;134;p20"/>
          <p:cNvPicPr preferRelativeResize="0"/>
          <p:nvPr/>
        </p:nvPicPr>
        <p:blipFill>
          <a:blip r:embed="rId4">
            <a:alphaModFix/>
          </a:blip>
          <a:stretch>
            <a:fillRect/>
          </a:stretch>
        </p:blipFill>
        <p:spPr>
          <a:xfrm>
            <a:off x="6086441" y="1365175"/>
            <a:ext cx="4506386" cy="2675476"/>
          </a:xfrm>
          <a:prstGeom prst="rect">
            <a:avLst/>
          </a:prstGeom>
          <a:noFill/>
          <a:ln>
            <a:noFill/>
          </a:ln>
        </p:spPr>
      </p:pic>
      <p:pic>
        <p:nvPicPr>
          <p:cNvPr id="135" name="Google Shape;135;p20"/>
          <p:cNvPicPr preferRelativeResize="0"/>
          <p:nvPr/>
        </p:nvPicPr>
        <p:blipFill>
          <a:blip r:embed="rId5">
            <a:alphaModFix/>
          </a:blip>
          <a:stretch>
            <a:fillRect/>
          </a:stretch>
        </p:blipFill>
        <p:spPr>
          <a:xfrm>
            <a:off x="1285476" y="4040650"/>
            <a:ext cx="4530999" cy="2669890"/>
          </a:xfrm>
          <a:prstGeom prst="rect">
            <a:avLst/>
          </a:prstGeom>
          <a:noFill/>
          <a:ln>
            <a:noFill/>
          </a:ln>
        </p:spPr>
      </p:pic>
      <p:pic>
        <p:nvPicPr>
          <p:cNvPr id="136" name="Google Shape;136;p20"/>
          <p:cNvPicPr preferRelativeResize="0"/>
          <p:nvPr/>
        </p:nvPicPr>
        <p:blipFill>
          <a:blip r:embed="rId6">
            <a:alphaModFix/>
          </a:blip>
          <a:stretch>
            <a:fillRect/>
          </a:stretch>
        </p:blipFill>
        <p:spPr>
          <a:xfrm>
            <a:off x="6086450" y="4119325"/>
            <a:ext cx="4589798" cy="25125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140" name="Shape 140"/>
        <p:cNvGrpSpPr/>
        <p:nvPr/>
      </p:nvGrpSpPr>
      <p:grpSpPr>
        <a:xfrm>
          <a:off x="0" y="0"/>
          <a:ext cx="0" cy="0"/>
          <a:chOff x="0" y="0"/>
          <a:chExt cx="0" cy="0"/>
        </a:xfrm>
      </p:grpSpPr>
      <p:sp>
        <p:nvSpPr>
          <p:cNvPr id="141" name="Google Shape;141;p21"/>
          <p:cNvSpPr txBox="1"/>
          <p:nvPr/>
        </p:nvSpPr>
        <p:spPr>
          <a:xfrm>
            <a:off x="590400" y="441775"/>
            <a:ext cx="116016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3000">
                <a:solidFill>
                  <a:srgbClr val="FACC15"/>
                </a:solidFill>
                <a:latin typeface="Poppins SemiBold"/>
                <a:ea typeface="Poppins SemiBold"/>
                <a:cs typeface="Poppins SemiBold"/>
                <a:sym typeface="Poppins SemiBold"/>
              </a:rPr>
              <a:t>Significant Project Changes (2nd Version)</a:t>
            </a:r>
            <a:endParaRPr>
              <a:solidFill>
                <a:schemeClr val="dk1"/>
              </a:solidFill>
            </a:endParaRPr>
          </a:p>
          <a:p>
            <a:pPr indent="0" lvl="0" marL="0" marR="0" rtl="0" algn="l">
              <a:spcBef>
                <a:spcPts val="0"/>
              </a:spcBef>
              <a:spcAft>
                <a:spcPts val="0"/>
              </a:spcAft>
              <a:buNone/>
            </a:pPr>
            <a:r>
              <a:t/>
            </a:r>
            <a:endParaRPr b="1" sz="3000">
              <a:solidFill>
                <a:srgbClr val="FACC15"/>
              </a:solidFill>
              <a:latin typeface="Poppins SemiBold"/>
              <a:ea typeface="Poppins SemiBold"/>
              <a:cs typeface="Poppins SemiBold"/>
              <a:sym typeface="Poppins SemiBold"/>
            </a:endParaRPr>
          </a:p>
        </p:txBody>
      </p:sp>
      <p:sp>
        <p:nvSpPr>
          <p:cNvPr id="142" name="Google Shape;142;p21"/>
          <p:cNvSpPr txBox="1"/>
          <p:nvPr/>
        </p:nvSpPr>
        <p:spPr>
          <a:xfrm>
            <a:off x="860575" y="1248700"/>
            <a:ext cx="7523700" cy="44625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200"/>
              </a:spcBef>
              <a:spcAft>
                <a:spcPts val="0"/>
              </a:spcAft>
              <a:buNone/>
            </a:pPr>
            <a:r>
              <a:rPr lang="en-US" sz="2850">
                <a:solidFill>
                  <a:srgbClr val="F8FAFC"/>
                </a:solidFill>
                <a:latin typeface="Lato"/>
                <a:ea typeface="Lato"/>
                <a:cs typeface="Lato"/>
                <a:sym typeface="Lato"/>
              </a:rPr>
              <a:t>This is the second version</a:t>
            </a:r>
            <a:endParaRPr sz="2850">
              <a:solidFill>
                <a:srgbClr val="F8FAFC"/>
              </a:solidFill>
              <a:latin typeface="Lato"/>
              <a:ea typeface="Lato"/>
              <a:cs typeface="Lato"/>
              <a:sym typeface="Lato"/>
            </a:endParaRPr>
          </a:p>
          <a:p>
            <a:pPr indent="0" lvl="0" marL="457200" rtl="0" algn="l">
              <a:lnSpc>
                <a:spcPct val="115000"/>
              </a:lnSpc>
              <a:spcBef>
                <a:spcPts val="1200"/>
              </a:spcBef>
              <a:spcAft>
                <a:spcPts val="0"/>
              </a:spcAft>
              <a:buNone/>
            </a:pPr>
            <a:r>
              <a:rPr lang="en-US" sz="2850">
                <a:solidFill>
                  <a:srgbClr val="F8FAFC"/>
                </a:solidFill>
                <a:latin typeface="Lato"/>
                <a:ea typeface="Lato"/>
                <a:cs typeface="Lato"/>
                <a:sym typeface="Lato"/>
              </a:rPr>
              <a:t>What was modified or added:</a:t>
            </a:r>
            <a:endParaRPr sz="2850">
              <a:solidFill>
                <a:srgbClr val="F8FAFC"/>
              </a:solidFill>
              <a:latin typeface="Lato"/>
              <a:ea typeface="Lato"/>
              <a:cs typeface="Lato"/>
              <a:sym typeface="Lato"/>
            </a:endParaRPr>
          </a:p>
          <a:p>
            <a:pPr indent="-409575" lvl="0" marL="457200" rtl="0" algn="l">
              <a:lnSpc>
                <a:spcPct val="115000"/>
              </a:lnSpc>
              <a:spcBef>
                <a:spcPts val="1200"/>
              </a:spcBef>
              <a:spcAft>
                <a:spcPts val="0"/>
              </a:spcAft>
              <a:buClr>
                <a:srgbClr val="F8FAFC"/>
              </a:buClr>
              <a:buSzPts val="2850"/>
              <a:buFont typeface="Lato"/>
              <a:buChar char="●"/>
            </a:pPr>
            <a:r>
              <a:rPr lang="en-US" sz="2850">
                <a:solidFill>
                  <a:srgbClr val="F8FAFC"/>
                </a:solidFill>
                <a:latin typeface="Lato"/>
                <a:ea typeface="Lato"/>
                <a:cs typeface="Lato"/>
                <a:sym typeface="Lato"/>
              </a:rPr>
              <a:t>Colors changed to match the corporate brand</a:t>
            </a:r>
            <a:endParaRPr sz="2850">
              <a:solidFill>
                <a:srgbClr val="F8FAFC"/>
              </a:solidFill>
              <a:latin typeface="Lato"/>
              <a:ea typeface="Lato"/>
              <a:cs typeface="Lato"/>
              <a:sym typeface="Lato"/>
            </a:endParaRPr>
          </a:p>
          <a:p>
            <a:pPr indent="-409575" lvl="0" marL="457200" rtl="0" algn="l">
              <a:lnSpc>
                <a:spcPct val="115000"/>
              </a:lnSpc>
              <a:spcBef>
                <a:spcPts val="0"/>
              </a:spcBef>
              <a:spcAft>
                <a:spcPts val="0"/>
              </a:spcAft>
              <a:buClr>
                <a:srgbClr val="F8FAFC"/>
              </a:buClr>
              <a:buSzPts val="2850"/>
              <a:buFont typeface="Lato"/>
              <a:buChar char="●"/>
            </a:pPr>
            <a:r>
              <a:rPr lang="en-US" sz="2850">
                <a:solidFill>
                  <a:srgbClr val="F8FAFC"/>
                </a:solidFill>
                <a:latin typeface="Lato"/>
                <a:ea typeface="Lato"/>
                <a:cs typeface="Lato"/>
                <a:sym typeface="Lato"/>
              </a:rPr>
              <a:t>Profile view section based on functional requirements</a:t>
            </a:r>
            <a:endParaRPr sz="2850">
              <a:solidFill>
                <a:srgbClr val="F8FAFC"/>
              </a:solidFill>
              <a:latin typeface="Lato"/>
              <a:ea typeface="Lato"/>
              <a:cs typeface="Lato"/>
              <a:sym typeface="Lato"/>
            </a:endParaRPr>
          </a:p>
          <a:p>
            <a:pPr indent="-409575" lvl="0" marL="457200" rtl="0" algn="l">
              <a:lnSpc>
                <a:spcPct val="115000"/>
              </a:lnSpc>
              <a:spcBef>
                <a:spcPts val="0"/>
              </a:spcBef>
              <a:spcAft>
                <a:spcPts val="0"/>
              </a:spcAft>
              <a:buClr>
                <a:srgbClr val="F8FAFC"/>
              </a:buClr>
              <a:buSzPts val="2850"/>
              <a:buFont typeface="Lato"/>
              <a:buChar char="●"/>
            </a:pPr>
            <a:r>
              <a:rPr lang="en-US" sz="2850">
                <a:solidFill>
                  <a:srgbClr val="F8FAFC"/>
                </a:solidFill>
                <a:latin typeface="Lato"/>
                <a:ea typeface="Lato"/>
                <a:cs typeface="Lato"/>
                <a:sym typeface="Lato"/>
              </a:rPr>
              <a:t>Validation logic was added to make it a working prototype.</a:t>
            </a:r>
            <a:endParaRPr sz="2850">
              <a:solidFill>
                <a:srgbClr val="F8FAFC"/>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146" name="Shape 146"/>
        <p:cNvGrpSpPr/>
        <p:nvPr/>
      </p:nvGrpSpPr>
      <p:grpSpPr>
        <a:xfrm>
          <a:off x="0" y="0"/>
          <a:ext cx="0" cy="0"/>
          <a:chOff x="0" y="0"/>
          <a:chExt cx="0" cy="0"/>
        </a:xfrm>
      </p:grpSpPr>
      <p:sp>
        <p:nvSpPr>
          <p:cNvPr id="147" name="Google Shape;147;p22"/>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FACC15"/>
                </a:solidFill>
                <a:latin typeface="Poppins SemiBold"/>
                <a:ea typeface="Poppins SemiBold"/>
                <a:cs typeface="Poppins SemiBold"/>
                <a:sym typeface="Poppins SemiBold"/>
              </a:rPr>
              <a:t>Usability Testing: Analysis and Results</a:t>
            </a:r>
            <a:endParaRPr/>
          </a:p>
        </p:txBody>
      </p:sp>
      <p:graphicFrame>
        <p:nvGraphicFramePr>
          <p:cNvPr id="148" name="Google Shape;148;p22"/>
          <p:cNvGraphicFramePr/>
          <p:nvPr/>
        </p:nvGraphicFramePr>
        <p:xfrm>
          <a:off x="2215275" y="1077875"/>
          <a:ext cx="3000000" cy="3000000"/>
        </p:xfrm>
        <a:graphic>
          <a:graphicData uri="http://schemas.openxmlformats.org/drawingml/2006/table">
            <a:tbl>
              <a:tblPr>
                <a:noFill/>
                <a:tableStyleId>{4C427C1A-D6EF-4649-AE6D-4DD0C29FC396}</a:tableStyleId>
              </a:tblPr>
              <a:tblGrid>
                <a:gridCol w="1393750"/>
                <a:gridCol w="2298100"/>
                <a:gridCol w="3021225"/>
              </a:tblGrid>
              <a:tr h="381000">
                <a:tc>
                  <a:txBody>
                    <a:bodyPr/>
                    <a:lstStyle/>
                    <a:p>
                      <a:pPr indent="0" lvl="0" marL="0" rtl="0" algn="l">
                        <a:spcBef>
                          <a:spcPts val="0"/>
                        </a:spcBef>
                        <a:spcAft>
                          <a:spcPts val="0"/>
                        </a:spcAft>
                        <a:buNone/>
                      </a:pPr>
                      <a:r>
                        <a:rPr lang="en-US">
                          <a:solidFill>
                            <a:schemeClr val="lt1"/>
                          </a:solidFill>
                        </a:rPr>
                        <a:t>Task</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US">
                          <a:solidFill>
                            <a:schemeClr val="lt1"/>
                          </a:solidFill>
                        </a:rPr>
                        <a:t>Efficiency metrics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US">
                          <a:solidFill>
                            <a:schemeClr val="lt1"/>
                          </a:solidFill>
                        </a:rPr>
                        <a:t>Interaction friction metrics</a:t>
                      </a:r>
                      <a:endParaRPr>
                        <a:solidFill>
                          <a:schemeClr val="lt1"/>
                        </a:solidFill>
                      </a:endParaRPr>
                    </a:p>
                  </a:txBody>
                  <a:tcPr marT="91425" marB="91425" marR="91425" marL="91425"/>
                </a:tc>
              </a:tr>
              <a:tr h="381000">
                <a:tc>
                  <a:txBody>
                    <a:bodyPr/>
                    <a:lstStyle/>
                    <a:p>
                      <a:pPr indent="0" lvl="0" marL="0" rtl="0" algn="l">
                        <a:spcBef>
                          <a:spcPts val="0"/>
                        </a:spcBef>
                        <a:spcAft>
                          <a:spcPts val="0"/>
                        </a:spcAft>
                        <a:buNone/>
                      </a:pPr>
                      <a:r>
                        <a:rPr lang="en-US">
                          <a:solidFill>
                            <a:schemeClr val="lt1"/>
                          </a:solidFill>
                        </a:rPr>
                        <a:t>Register</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US" sz="1200">
                          <a:solidFill>
                            <a:schemeClr val="lt1"/>
                          </a:solidFill>
                        </a:rPr>
                        <a:t>Success rate: 91%</a:t>
                      </a:r>
                      <a:endParaRPr sz="1200">
                        <a:solidFill>
                          <a:schemeClr val="lt1"/>
                        </a:solidFill>
                      </a:endParaRPr>
                    </a:p>
                    <a:p>
                      <a:pPr indent="0" lvl="0" marL="0" rtl="0" algn="l">
                        <a:spcBef>
                          <a:spcPts val="0"/>
                        </a:spcBef>
                        <a:spcAft>
                          <a:spcPts val="0"/>
                        </a:spcAft>
                        <a:buNone/>
                      </a:pPr>
                      <a:r>
                        <a:rPr lang="en-US" sz="1200">
                          <a:solidFill>
                            <a:schemeClr val="lt1"/>
                          </a:solidFill>
                        </a:rPr>
                        <a:t>Avg Time taken: 106s</a:t>
                      </a:r>
                      <a:endParaRPr sz="1200">
                        <a:solidFill>
                          <a:schemeClr val="lt1"/>
                        </a:solidFill>
                      </a:endParaRPr>
                    </a:p>
                    <a:p>
                      <a:pPr indent="0" lvl="0" marL="0" rtl="0" algn="l">
                        <a:spcBef>
                          <a:spcPts val="0"/>
                        </a:spcBef>
                        <a:spcAft>
                          <a:spcPts val="0"/>
                        </a:spcAft>
                        <a:buNone/>
                      </a:pPr>
                      <a:r>
                        <a:rPr lang="en-US" sz="1200">
                          <a:solidFill>
                            <a:schemeClr val="lt1"/>
                          </a:solidFill>
                        </a:rPr>
                        <a:t>Avg clicks: 13</a:t>
                      </a:r>
                      <a:endParaRPr sz="1200">
                        <a:solidFill>
                          <a:schemeClr val="lt1"/>
                        </a:solidFill>
                      </a:endParaRPr>
                    </a:p>
                    <a:p>
                      <a:pPr indent="0" lvl="0" marL="0" rtl="0" algn="l">
                        <a:spcBef>
                          <a:spcPts val="0"/>
                        </a:spcBef>
                        <a:spcAft>
                          <a:spcPts val="0"/>
                        </a:spcAft>
                        <a:buNone/>
                      </a:pPr>
                      <a:r>
                        <a:rPr lang="en-US" sz="1200">
                          <a:solidFill>
                            <a:schemeClr val="lt1"/>
                          </a:solidFill>
                        </a:rPr>
                        <a:t>Avg Errors: 1</a:t>
                      </a:r>
                      <a:endParaRPr sz="1200">
                        <a:solidFill>
                          <a:schemeClr val="lt1"/>
                        </a:solidFill>
                      </a:endParaRPr>
                    </a:p>
                    <a:p>
                      <a:pPr indent="0" lvl="0" marL="0" rtl="0" algn="l">
                        <a:spcBef>
                          <a:spcPts val="0"/>
                        </a:spcBef>
                        <a:spcAft>
                          <a:spcPts val="0"/>
                        </a:spcAft>
                        <a:buNone/>
                      </a:pPr>
                      <a:r>
                        <a:rPr lang="en-US" sz="1200">
                          <a:solidFill>
                            <a:schemeClr val="lt1"/>
                          </a:solidFill>
                        </a:rPr>
                        <a:t>Avg Time to find button: </a:t>
                      </a:r>
                      <a:endParaRPr sz="1200">
                        <a:solidFill>
                          <a:schemeClr val="lt1"/>
                        </a:solidFill>
                      </a:endParaRPr>
                    </a:p>
                    <a:p>
                      <a:pPr indent="0" lvl="0" marL="0" rtl="0" algn="l">
                        <a:spcBef>
                          <a:spcPts val="0"/>
                        </a:spcBef>
                        <a:spcAft>
                          <a:spcPts val="0"/>
                        </a:spcAft>
                        <a:buNone/>
                      </a:pPr>
                      <a:r>
                        <a:t/>
                      </a:r>
                      <a:endParaRPr sz="1200">
                        <a:solidFill>
                          <a:schemeClr val="lt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lt1"/>
                          </a:solidFill>
                        </a:rPr>
                        <a:t>Misclick rate: 8.8%</a:t>
                      </a:r>
                      <a:endParaRPr sz="1200">
                        <a:solidFill>
                          <a:schemeClr val="lt1"/>
                        </a:solidFill>
                      </a:endParaRPr>
                    </a:p>
                    <a:p>
                      <a:pPr indent="0" lvl="0" marL="0" rtl="0" algn="l">
                        <a:spcBef>
                          <a:spcPts val="0"/>
                        </a:spcBef>
                        <a:spcAft>
                          <a:spcPts val="0"/>
                        </a:spcAft>
                        <a:buNone/>
                      </a:pPr>
                      <a:r>
                        <a:rPr lang="en-US" sz="1200">
                          <a:solidFill>
                            <a:schemeClr val="lt1"/>
                          </a:solidFill>
                        </a:rPr>
                        <a:t>Avg mental blocks: 1</a:t>
                      </a:r>
                      <a:endParaRPr sz="1200">
                        <a:solidFill>
                          <a:schemeClr val="lt1"/>
                        </a:solidFill>
                      </a:endParaRPr>
                    </a:p>
                    <a:p>
                      <a:pPr indent="0" lvl="0" marL="0" rtl="0" algn="l">
                        <a:spcBef>
                          <a:spcPts val="0"/>
                        </a:spcBef>
                        <a:spcAft>
                          <a:spcPts val="0"/>
                        </a:spcAft>
                        <a:buNone/>
                      </a:pPr>
                      <a:r>
                        <a:rPr lang="en-US" sz="1200">
                          <a:solidFill>
                            <a:schemeClr val="lt1"/>
                          </a:solidFill>
                        </a:rPr>
                        <a:t>Avg help asked: 0.78</a:t>
                      </a:r>
                      <a:endParaRPr sz="1200">
                        <a:solidFill>
                          <a:schemeClr val="lt1"/>
                        </a:solidFill>
                      </a:endParaRPr>
                    </a:p>
                    <a:p>
                      <a:pPr indent="0" lvl="0" marL="0" rtl="0" algn="l">
                        <a:spcBef>
                          <a:spcPts val="0"/>
                        </a:spcBef>
                        <a:spcAft>
                          <a:spcPts val="0"/>
                        </a:spcAft>
                        <a:buNone/>
                      </a:pPr>
                      <a:r>
                        <a:rPr lang="en-US" sz="1200">
                          <a:solidFill>
                            <a:schemeClr val="lt1"/>
                          </a:solidFill>
                        </a:rPr>
                        <a:t>Avg happy path adherence: 86%</a:t>
                      </a:r>
                      <a:endParaRPr sz="1200">
                        <a:solidFill>
                          <a:schemeClr val="lt1"/>
                        </a:solidFill>
                      </a:endParaRPr>
                    </a:p>
                  </a:txBody>
                  <a:tcPr marT="91425" marB="91425" marR="91425" marL="91425">
                    <a:lnB cap="flat" cmpd="sng" w="9525">
                      <a:solidFill>
                        <a:srgbClr val="9E9E9E"/>
                      </a:solidFill>
                      <a:prstDash val="solid"/>
                      <a:round/>
                      <a:headEnd len="sm" w="sm" type="none"/>
                      <a:tailEnd len="sm" w="sm" type="none"/>
                    </a:lnB>
                  </a:tcPr>
                </a:tc>
              </a:tr>
              <a:tr h="1044050">
                <a:tc>
                  <a:txBody>
                    <a:bodyPr/>
                    <a:lstStyle/>
                    <a:p>
                      <a:pPr indent="0" lvl="0" marL="0" rtl="0" algn="l">
                        <a:spcBef>
                          <a:spcPts val="0"/>
                        </a:spcBef>
                        <a:spcAft>
                          <a:spcPts val="0"/>
                        </a:spcAft>
                        <a:buNone/>
                      </a:pPr>
                      <a:r>
                        <a:rPr lang="en-US">
                          <a:solidFill>
                            <a:schemeClr val="lt1"/>
                          </a:solidFill>
                        </a:rPr>
                        <a:t>Login</a:t>
                      </a:r>
                      <a:endParaRPr>
                        <a:solidFill>
                          <a:schemeClr val="lt1"/>
                        </a:solidFill>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sz="1200">
                          <a:solidFill>
                            <a:schemeClr val="lt1"/>
                          </a:solidFill>
                        </a:rPr>
                        <a:t>Success rate: 91%</a:t>
                      </a:r>
                      <a:endParaRPr sz="1200">
                        <a:solidFill>
                          <a:schemeClr val="lt1"/>
                        </a:solidFill>
                      </a:endParaRPr>
                    </a:p>
                    <a:p>
                      <a:pPr indent="0" lvl="0" marL="0" rtl="0" algn="l">
                        <a:spcBef>
                          <a:spcPts val="0"/>
                        </a:spcBef>
                        <a:spcAft>
                          <a:spcPts val="0"/>
                        </a:spcAft>
                        <a:buNone/>
                      </a:pPr>
                      <a:r>
                        <a:rPr lang="en-US" sz="1200">
                          <a:solidFill>
                            <a:schemeClr val="lt1"/>
                          </a:solidFill>
                        </a:rPr>
                        <a:t>Avg Time taken: 27s</a:t>
                      </a:r>
                      <a:endParaRPr sz="1200">
                        <a:solidFill>
                          <a:schemeClr val="lt1"/>
                        </a:solidFill>
                      </a:endParaRPr>
                    </a:p>
                    <a:p>
                      <a:pPr indent="0" lvl="0" marL="0" rtl="0" algn="l">
                        <a:spcBef>
                          <a:spcPts val="0"/>
                        </a:spcBef>
                        <a:spcAft>
                          <a:spcPts val="0"/>
                        </a:spcAft>
                        <a:buNone/>
                      </a:pPr>
                      <a:r>
                        <a:rPr lang="en-US" sz="1200">
                          <a:solidFill>
                            <a:schemeClr val="lt1"/>
                          </a:solidFill>
                        </a:rPr>
                        <a:t>Avg clicks: 5 clicks</a:t>
                      </a:r>
                      <a:endParaRPr sz="1200">
                        <a:solidFill>
                          <a:schemeClr val="lt1"/>
                        </a:solidFill>
                      </a:endParaRPr>
                    </a:p>
                    <a:p>
                      <a:pPr indent="0" lvl="0" marL="0" rtl="0" algn="l">
                        <a:spcBef>
                          <a:spcPts val="0"/>
                        </a:spcBef>
                        <a:spcAft>
                          <a:spcPts val="0"/>
                        </a:spcAft>
                        <a:buNone/>
                      </a:pPr>
                      <a:r>
                        <a:rPr lang="en-US" sz="1200">
                          <a:solidFill>
                            <a:schemeClr val="lt1"/>
                          </a:solidFill>
                        </a:rPr>
                        <a:t>Avg Errors: 0.3 errors</a:t>
                      </a:r>
                      <a:endParaRPr sz="1200">
                        <a:solidFill>
                          <a:schemeClr val="lt1"/>
                        </a:solidFill>
                      </a:endParaRPr>
                    </a:p>
                    <a:p>
                      <a:pPr indent="0" lvl="0" marL="0" rtl="0" algn="l">
                        <a:spcBef>
                          <a:spcPts val="0"/>
                        </a:spcBef>
                        <a:spcAft>
                          <a:spcPts val="0"/>
                        </a:spcAft>
                        <a:buNone/>
                      </a:pPr>
                      <a:r>
                        <a:rPr lang="en-US" sz="1200">
                          <a:solidFill>
                            <a:schemeClr val="lt1"/>
                          </a:solidFill>
                        </a:rPr>
                        <a:t>Avg Time to find button:</a:t>
                      </a:r>
                      <a:endParaRPr sz="1200">
                        <a:solidFill>
                          <a:schemeClr val="lt1"/>
                        </a:solidFill>
                      </a:endParaRPr>
                    </a:p>
                    <a:p>
                      <a:pPr indent="0" lvl="0" marL="0" rtl="0" algn="l">
                        <a:spcBef>
                          <a:spcPts val="0"/>
                        </a:spcBef>
                        <a:spcAft>
                          <a:spcPts val="0"/>
                        </a:spcAft>
                        <a:buNone/>
                      </a:pPr>
                      <a:r>
                        <a:t/>
                      </a:r>
                      <a:endParaRPr sz="12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lt1"/>
                          </a:solidFill>
                        </a:rPr>
                        <a:t>Misclick rate: 3.3%</a:t>
                      </a:r>
                      <a:endParaRPr sz="1200">
                        <a:solidFill>
                          <a:schemeClr val="lt1"/>
                        </a:solidFill>
                      </a:endParaRPr>
                    </a:p>
                    <a:p>
                      <a:pPr indent="0" lvl="0" marL="0" rtl="0" algn="l">
                        <a:spcBef>
                          <a:spcPts val="0"/>
                        </a:spcBef>
                        <a:spcAft>
                          <a:spcPts val="0"/>
                        </a:spcAft>
                        <a:buNone/>
                      </a:pPr>
                      <a:r>
                        <a:rPr lang="en-US" sz="1200">
                          <a:solidFill>
                            <a:schemeClr val="lt1"/>
                          </a:solidFill>
                        </a:rPr>
                        <a:t>Avg mental blocks: 0.27</a:t>
                      </a:r>
                      <a:endParaRPr sz="1200">
                        <a:solidFill>
                          <a:schemeClr val="lt1"/>
                        </a:solidFill>
                      </a:endParaRPr>
                    </a:p>
                    <a:p>
                      <a:pPr indent="0" lvl="0" marL="0" rtl="0" algn="l">
                        <a:spcBef>
                          <a:spcPts val="0"/>
                        </a:spcBef>
                        <a:spcAft>
                          <a:spcPts val="0"/>
                        </a:spcAft>
                        <a:buNone/>
                      </a:pPr>
                      <a:r>
                        <a:rPr lang="en-US" sz="1200">
                          <a:solidFill>
                            <a:schemeClr val="lt1"/>
                          </a:solidFill>
                        </a:rPr>
                        <a:t>Avg help asked: 0.11</a:t>
                      </a:r>
                      <a:endParaRPr sz="1200">
                        <a:solidFill>
                          <a:schemeClr val="lt1"/>
                        </a:solidFill>
                      </a:endParaRPr>
                    </a:p>
                    <a:p>
                      <a:pPr indent="0" lvl="0" marL="0" rtl="0" algn="l">
                        <a:spcBef>
                          <a:spcPts val="0"/>
                        </a:spcBef>
                        <a:spcAft>
                          <a:spcPts val="0"/>
                        </a:spcAft>
                        <a:buNone/>
                      </a:pPr>
                      <a:r>
                        <a:rPr lang="en-US" sz="1200">
                          <a:solidFill>
                            <a:schemeClr val="lt1"/>
                          </a:solidFill>
                        </a:rPr>
                        <a:t>Avg happy path adherence: 92%</a:t>
                      </a:r>
                      <a:endParaRPr sz="12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117300">
                <a:tc>
                  <a:txBody>
                    <a:bodyPr/>
                    <a:lstStyle/>
                    <a:p>
                      <a:pPr indent="0" lvl="0" marL="0" rtl="0" algn="l">
                        <a:spcBef>
                          <a:spcPts val="0"/>
                        </a:spcBef>
                        <a:spcAft>
                          <a:spcPts val="0"/>
                        </a:spcAft>
                        <a:buNone/>
                      </a:pPr>
                      <a:r>
                        <a:rPr lang="en-US">
                          <a:solidFill>
                            <a:schemeClr val="lt1"/>
                          </a:solidFill>
                        </a:rPr>
                        <a:t>Enrollment</a:t>
                      </a:r>
                      <a:endParaRPr>
                        <a:solidFill>
                          <a:schemeClr val="lt1"/>
                        </a:solidFill>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sz="1200">
                          <a:solidFill>
                            <a:schemeClr val="lt1"/>
                          </a:solidFill>
                        </a:rPr>
                        <a:t>Success rate: 73%</a:t>
                      </a:r>
                      <a:endParaRPr sz="1200">
                        <a:solidFill>
                          <a:schemeClr val="lt1"/>
                        </a:solidFill>
                      </a:endParaRPr>
                    </a:p>
                    <a:p>
                      <a:pPr indent="0" lvl="0" marL="0" rtl="0" algn="l">
                        <a:spcBef>
                          <a:spcPts val="0"/>
                        </a:spcBef>
                        <a:spcAft>
                          <a:spcPts val="0"/>
                        </a:spcAft>
                        <a:buNone/>
                      </a:pPr>
                      <a:r>
                        <a:rPr lang="en-US" sz="1200">
                          <a:solidFill>
                            <a:schemeClr val="lt1"/>
                          </a:solidFill>
                        </a:rPr>
                        <a:t>Avg Time taken: 133s</a:t>
                      </a:r>
                      <a:endParaRPr sz="1200">
                        <a:solidFill>
                          <a:schemeClr val="lt1"/>
                        </a:solidFill>
                      </a:endParaRPr>
                    </a:p>
                    <a:p>
                      <a:pPr indent="0" lvl="0" marL="0" rtl="0" algn="l">
                        <a:spcBef>
                          <a:spcPts val="0"/>
                        </a:spcBef>
                        <a:spcAft>
                          <a:spcPts val="0"/>
                        </a:spcAft>
                        <a:buNone/>
                      </a:pPr>
                      <a:r>
                        <a:rPr lang="en-US" sz="1200">
                          <a:solidFill>
                            <a:schemeClr val="lt1"/>
                          </a:solidFill>
                        </a:rPr>
                        <a:t>Avg clicks: 18 clicks</a:t>
                      </a:r>
                      <a:endParaRPr sz="1200">
                        <a:solidFill>
                          <a:schemeClr val="lt1"/>
                        </a:solidFill>
                      </a:endParaRPr>
                    </a:p>
                    <a:p>
                      <a:pPr indent="0" lvl="0" marL="0" rtl="0" algn="l">
                        <a:spcBef>
                          <a:spcPts val="0"/>
                        </a:spcBef>
                        <a:spcAft>
                          <a:spcPts val="0"/>
                        </a:spcAft>
                        <a:buNone/>
                      </a:pPr>
                      <a:r>
                        <a:rPr lang="en-US" sz="1200">
                          <a:solidFill>
                            <a:schemeClr val="lt1"/>
                          </a:solidFill>
                        </a:rPr>
                        <a:t>Avg Errors: 1.5 errors</a:t>
                      </a:r>
                      <a:endParaRPr sz="1200">
                        <a:solidFill>
                          <a:schemeClr val="lt1"/>
                        </a:solidFill>
                      </a:endParaRPr>
                    </a:p>
                    <a:p>
                      <a:pPr indent="0" lvl="0" marL="0" rtl="0" algn="l">
                        <a:spcBef>
                          <a:spcPts val="0"/>
                        </a:spcBef>
                        <a:spcAft>
                          <a:spcPts val="0"/>
                        </a:spcAft>
                        <a:buNone/>
                      </a:pPr>
                      <a:r>
                        <a:rPr lang="en-US" sz="1200">
                          <a:solidFill>
                            <a:schemeClr val="lt1"/>
                          </a:solidFill>
                        </a:rPr>
                        <a:t>Avg Time to find button:</a:t>
                      </a:r>
                      <a:endParaRPr sz="1200">
                        <a:solidFill>
                          <a:schemeClr val="lt1"/>
                        </a:solidFill>
                      </a:endParaRPr>
                    </a:p>
                    <a:p>
                      <a:pPr indent="0" lvl="0" marL="0" rtl="0" algn="l">
                        <a:spcBef>
                          <a:spcPts val="0"/>
                        </a:spcBef>
                        <a:spcAft>
                          <a:spcPts val="0"/>
                        </a:spcAft>
                        <a:buNone/>
                      </a:pPr>
                      <a:r>
                        <a:t/>
                      </a:r>
                      <a:endParaRPr sz="12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lt1"/>
                          </a:solidFill>
                        </a:rPr>
                        <a:t>Misclick rate: 12.5%</a:t>
                      </a:r>
                      <a:endParaRPr sz="1200">
                        <a:solidFill>
                          <a:schemeClr val="lt1"/>
                        </a:solidFill>
                      </a:endParaRPr>
                    </a:p>
                    <a:p>
                      <a:pPr indent="0" lvl="0" marL="0" rtl="0" algn="l">
                        <a:spcBef>
                          <a:spcPts val="0"/>
                        </a:spcBef>
                        <a:spcAft>
                          <a:spcPts val="0"/>
                        </a:spcAft>
                        <a:buNone/>
                      </a:pPr>
                      <a:r>
                        <a:rPr lang="en-US" sz="1200">
                          <a:solidFill>
                            <a:schemeClr val="lt1"/>
                          </a:solidFill>
                        </a:rPr>
                        <a:t>Avg mental blocks: 1.91</a:t>
                      </a:r>
                      <a:endParaRPr sz="1200">
                        <a:solidFill>
                          <a:schemeClr val="lt1"/>
                        </a:solidFill>
                      </a:endParaRPr>
                    </a:p>
                    <a:p>
                      <a:pPr indent="0" lvl="0" marL="0" rtl="0" algn="l">
                        <a:spcBef>
                          <a:spcPts val="0"/>
                        </a:spcBef>
                        <a:spcAft>
                          <a:spcPts val="0"/>
                        </a:spcAft>
                        <a:buNone/>
                      </a:pPr>
                      <a:r>
                        <a:rPr lang="en-US" sz="1200">
                          <a:solidFill>
                            <a:schemeClr val="lt1"/>
                          </a:solidFill>
                        </a:rPr>
                        <a:t>Avg help asked: 1.22</a:t>
                      </a:r>
                      <a:endParaRPr sz="1200">
                        <a:solidFill>
                          <a:schemeClr val="lt1"/>
                        </a:solidFill>
                      </a:endParaRPr>
                    </a:p>
                    <a:p>
                      <a:pPr indent="0" lvl="0" marL="0" rtl="0" algn="l">
                        <a:spcBef>
                          <a:spcPts val="0"/>
                        </a:spcBef>
                        <a:spcAft>
                          <a:spcPts val="0"/>
                        </a:spcAft>
                        <a:buNone/>
                      </a:pPr>
                      <a:r>
                        <a:rPr lang="en-US" sz="1200">
                          <a:solidFill>
                            <a:schemeClr val="lt1"/>
                          </a:solidFill>
                        </a:rPr>
                        <a:t>Avg happy path adherence: 74%</a:t>
                      </a:r>
                      <a:endParaRPr sz="12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125450">
                <a:tc>
                  <a:txBody>
                    <a:bodyPr/>
                    <a:lstStyle/>
                    <a:p>
                      <a:pPr indent="0" lvl="0" marL="0" rtl="0" algn="l">
                        <a:spcBef>
                          <a:spcPts val="0"/>
                        </a:spcBef>
                        <a:spcAft>
                          <a:spcPts val="0"/>
                        </a:spcAft>
                        <a:buNone/>
                      </a:pPr>
                      <a:r>
                        <a:rPr lang="en-US">
                          <a:solidFill>
                            <a:schemeClr val="lt1"/>
                          </a:solidFill>
                        </a:rPr>
                        <a:t>Status</a:t>
                      </a:r>
                      <a:endParaRPr>
                        <a:solidFill>
                          <a:schemeClr val="lt1"/>
                        </a:solidFill>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sz="1200">
                          <a:solidFill>
                            <a:schemeClr val="lt1"/>
                          </a:solidFill>
                        </a:rPr>
                        <a:t>Success rate: 78%</a:t>
                      </a:r>
                      <a:endParaRPr sz="1200">
                        <a:solidFill>
                          <a:schemeClr val="lt1"/>
                        </a:solidFill>
                      </a:endParaRPr>
                    </a:p>
                    <a:p>
                      <a:pPr indent="0" lvl="0" marL="0" rtl="0" algn="l">
                        <a:spcBef>
                          <a:spcPts val="0"/>
                        </a:spcBef>
                        <a:spcAft>
                          <a:spcPts val="0"/>
                        </a:spcAft>
                        <a:buNone/>
                      </a:pPr>
                      <a:r>
                        <a:rPr lang="en-US" sz="1200">
                          <a:solidFill>
                            <a:schemeClr val="lt1"/>
                          </a:solidFill>
                        </a:rPr>
                        <a:t>Avg Time taken: 34s</a:t>
                      </a:r>
                      <a:endParaRPr sz="1200">
                        <a:solidFill>
                          <a:schemeClr val="lt1"/>
                        </a:solidFill>
                      </a:endParaRPr>
                    </a:p>
                    <a:p>
                      <a:pPr indent="0" lvl="0" marL="0" rtl="0" algn="l">
                        <a:spcBef>
                          <a:spcPts val="0"/>
                        </a:spcBef>
                        <a:spcAft>
                          <a:spcPts val="0"/>
                        </a:spcAft>
                        <a:buNone/>
                      </a:pPr>
                      <a:r>
                        <a:rPr lang="en-US" sz="1200">
                          <a:solidFill>
                            <a:schemeClr val="lt1"/>
                          </a:solidFill>
                        </a:rPr>
                        <a:t>Avg clicks: 6 clicks</a:t>
                      </a:r>
                      <a:endParaRPr sz="1200">
                        <a:solidFill>
                          <a:schemeClr val="lt1"/>
                        </a:solidFill>
                      </a:endParaRPr>
                    </a:p>
                    <a:p>
                      <a:pPr indent="0" lvl="0" marL="0" rtl="0" algn="l">
                        <a:spcBef>
                          <a:spcPts val="0"/>
                        </a:spcBef>
                        <a:spcAft>
                          <a:spcPts val="0"/>
                        </a:spcAft>
                        <a:buNone/>
                      </a:pPr>
                      <a:r>
                        <a:rPr lang="en-US" sz="1200">
                          <a:solidFill>
                            <a:schemeClr val="lt1"/>
                          </a:solidFill>
                        </a:rPr>
                        <a:t>Avg Errors: 0.6 errors</a:t>
                      </a:r>
                      <a:endParaRPr sz="1200">
                        <a:solidFill>
                          <a:schemeClr val="lt1"/>
                        </a:solidFill>
                      </a:endParaRPr>
                    </a:p>
                    <a:p>
                      <a:pPr indent="0" lvl="0" marL="0" rtl="0" algn="l">
                        <a:spcBef>
                          <a:spcPts val="0"/>
                        </a:spcBef>
                        <a:spcAft>
                          <a:spcPts val="0"/>
                        </a:spcAft>
                        <a:buNone/>
                      </a:pPr>
                      <a:r>
                        <a:rPr lang="en-US" sz="1200">
                          <a:solidFill>
                            <a:schemeClr val="lt1"/>
                          </a:solidFill>
                        </a:rPr>
                        <a:t>Avg Time to find button:</a:t>
                      </a:r>
                      <a:endParaRPr sz="1200">
                        <a:solidFill>
                          <a:schemeClr val="lt1"/>
                        </a:solidFill>
                      </a:endParaRPr>
                    </a:p>
                    <a:p>
                      <a:pPr indent="0" lvl="0" marL="0" rtl="0" algn="l">
                        <a:spcBef>
                          <a:spcPts val="0"/>
                        </a:spcBef>
                        <a:spcAft>
                          <a:spcPts val="0"/>
                        </a:spcAft>
                        <a:buNone/>
                      </a:pPr>
                      <a:r>
                        <a:t/>
                      </a:r>
                      <a:endParaRPr sz="12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lt1"/>
                          </a:solidFill>
                        </a:rPr>
                        <a:t>Misclick rate: 8.4%</a:t>
                      </a:r>
                      <a:endParaRPr sz="1200">
                        <a:solidFill>
                          <a:schemeClr val="lt1"/>
                        </a:solidFill>
                      </a:endParaRPr>
                    </a:p>
                    <a:p>
                      <a:pPr indent="0" lvl="0" marL="0" rtl="0" algn="l">
                        <a:spcBef>
                          <a:spcPts val="0"/>
                        </a:spcBef>
                        <a:spcAft>
                          <a:spcPts val="0"/>
                        </a:spcAft>
                        <a:buNone/>
                      </a:pPr>
                      <a:r>
                        <a:rPr lang="en-US" sz="1200">
                          <a:solidFill>
                            <a:schemeClr val="lt1"/>
                          </a:solidFill>
                        </a:rPr>
                        <a:t>Avg mental blocks: 0.7</a:t>
                      </a:r>
                      <a:endParaRPr sz="1200">
                        <a:solidFill>
                          <a:schemeClr val="lt1"/>
                        </a:solidFill>
                      </a:endParaRPr>
                    </a:p>
                    <a:p>
                      <a:pPr indent="0" lvl="0" marL="0" rtl="0" algn="l">
                        <a:spcBef>
                          <a:spcPts val="0"/>
                        </a:spcBef>
                        <a:spcAft>
                          <a:spcPts val="0"/>
                        </a:spcAft>
                        <a:buNone/>
                      </a:pPr>
                      <a:r>
                        <a:rPr lang="en-US" sz="1200">
                          <a:solidFill>
                            <a:schemeClr val="lt1"/>
                          </a:solidFill>
                        </a:rPr>
                        <a:t>Avg help asked: 0.38</a:t>
                      </a:r>
                      <a:endParaRPr sz="1200">
                        <a:solidFill>
                          <a:schemeClr val="lt1"/>
                        </a:solidFill>
                      </a:endParaRPr>
                    </a:p>
                    <a:p>
                      <a:pPr indent="0" lvl="0" marL="0" rtl="0" algn="l">
                        <a:spcBef>
                          <a:spcPts val="0"/>
                        </a:spcBef>
                        <a:spcAft>
                          <a:spcPts val="0"/>
                        </a:spcAft>
                        <a:buNone/>
                      </a:pPr>
                      <a:r>
                        <a:rPr lang="en-US" sz="1200">
                          <a:solidFill>
                            <a:schemeClr val="lt1"/>
                          </a:solidFill>
                        </a:rPr>
                        <a:t>Avg happy path adherence: 80%</a:t>
                      </a:r>
                      <a:endParaRPr sz="12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152" name="Shape 152"/>
        <p:cNvGrpSpPr/>
        <p:nvPr/>
      </p:nvGrpSpPr>
      <p:grpSpPr>
        <a:xfrm>
          <a:off x="0" y="0"/>
          <a:ext cx="0" cy="0"/>
          <a:chOff x="0" y="0"/>
          <a:chExt cx="0" cy="0"/>
        </a:xfrm>
      </p:grpSpPr>
      <p:sp>
        <p:nvSpPr>
          <p:cNvPr id="153" name="Google Shape;153;p23"/>
          <p:cNvSpPr txBox="1"/>
          <p:nvPr/>
        </p:nvSpPr>
        <p:spPr>
          <a:xfrm>
            <a:off x="571500" y="571500"/>
            <a:ext cx="11601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FACC15"/>
                </a:solidFill>
                <a:latin typeface="Poppins SemiBold"/>
                <a:ea typeface="Poppins SemiBold"/>
                <a:cs typeface="Poppins SemiBold"/>
                <a:sym typeface="Poppins SemiBold"/>
              </a:rPr>
              <a:t>Usability Testing: Analysis and Results</a:t>
            </a:r>
            <a:endParaRPr/>
          </a:p>
        </p:txBody>
      </p:sp>
      <p:sp>
        <p:nvSpPr>
          <p:cNvPr id="154" name="Google Shape;154;p23"/>
          <p:cNvSpPr txBox="1"/>
          <p:nvPr/>
        </p:nvSpPr>
        <p:spPr>
          <a:xfrm>
            <a:off x="618600" y="1820600"/>
            <a:ext cx="10954800" cy="4013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2006">
                <a:solidFill>
                  <a:srgbClr val="F8FAFC"/>
                </a:solidFill>
                <a:latin typeface="Lato"/>
                <a:ea typeface="Lato"/>
                <a:cs typeface="Lato"/>
                <a:sym typeface="Lato"/>
              </a:rPr>
              <a:t>The data was from the first batch of test that we did, it is somewhat incorrect in some parts (time) as we tried to measure time and do think aloud to the same participants at the same time, making the time based metrics mostly invalid but it still gave us useful information such as:</a:t>
            </a:r>
            <a:endParaRPr sz="2006">
              <a:solidFill>
                <a:srgbClr val="F8FAFC"/>
              </a:solidFill>
              <a:latin typeface="Lato"/>
              <a:ea typeface="Lato"/>
              <a:cs typeface="Lato"/>
              <a:sym typeface="Lato"/>
            </a:endParaRPr>
          </a:p>
          <a:p>
            <a:pPr indent="-355968" lvl="0" marL="457200" marR="0" rtl="0" algn="l">
              <a:lnSpc>
                <a:spcPct val="150000"/>
              </a:lnSpc>
              <a:spcBef>
                <a:spcPts val="0"/>
              </a:spcBef>
              <a:spcAft>
                <a:spcPts val="0"/>
              </a:spcAft>
              <a:buClr>
                <a:srgbClr val="F8FAFC"/>
              </a:buClr>
              <a:buSzPts val="2006"/>
              <a:buFont typeface="Lato"/>
              <a:buChar char="●"/>
            </a:pPr>
            <a:r>
              <a:rPr lang="en-US" sz="2006">
                <a:solidFill>
                  <a:srgbClr val="F8FAFC"/>
                </a:solidFill>
                <a:latin typeface="Lato"/>
                <a:ea typeface="Lato"/>
                <a:cs typeface="Lato"/>
                <a:sym typeface="Lato"/>
              </a:rPr>
              <a:t>The button for the first task was hard to find, participant expected it to be on their faces</a:t>
            </a:r>
            <a:endParaRPr sz="2006">
              <a:solidFill>
                <a:srgbClr val="F8FAFC"/>
              </a:solidFill>
              <a:latin typeface="Lato"/>
              <a:ea typeface="Lato"/>
              <a:cs typeface="Lato"/>
              <a:sym typeface="Lato"/>
            </a:endParaRPr>
          </a:p>
          <a:p>
            <a:pPr indent="-355968" lvl="0" marL="457200" marR="0" rtl="0" algn="l">
              <a:lnSpc>
                <a:spcPct val="150000"/>
              </a:lnSpc>
              <a:spcBef>
                <a:spcPts val="0"/>
              </a:spcBef>
              <a:spcAft>
                <a:spcPts val="0"/>
              </a:spcAft>
              <a:buClr>
                <a:srgbClr val="F8FAFC"/>
              </a:buClr>
              <a:buSzPts val="2006"/>
              <a:buFont typeface="Lato"/>
              <a:buChar char="●"/>
            </a:pPr>
            <a:r>
              <a:rPr lang="en-US" sz="2006">
                <a:solidFill>
                  <a:srgbClr val="F8FAFC"/>
                </a:solidFill>
                <a:latin typeface="Lato"/>
                <a:ea typeface="Lato"/>
                <a:cs typeface="Lato"/>
                <a:sym typeface="Lato"/>
              </a:rPr>
              <a:t>Some people lacked the patience to wait for the instructions and played with the app during the explication</a:t>
            </a:r>
            <a:endParaRPr sz="2006">
              <a:solidFill>
                <a:srgbClr val="F8FAFC"/>
              </a:solidFill>
              <a:latin typeface="Lato"/>
              <a:ea typeface="Lato"/>
              <a:cs typeface="Lato"/>
              <a:sym typeface="Lato"/>
            </a:endParaRPr>
          </a:p>
          <a:p>
            <a:pPr indent="-355968" lvl="0" marL="457200" marR="0" rtl="0" algn="l">
              <a:lnSpc>
                <a:spcPct val="150000"/>
              </a:lnSpc>
              <a:spcBef>
                <a:spcPts val="0"/>
              </a:spcBef>
              <a:spcAft>
                <a:spcPts val="0"/>
              </a:spcAft>
              <a:buClr>
                <a:srgbClr val="F8FAFC"/>
              </a:buClr>
              <a:buSzPts val="2006"/>
              <a:buFont typeface="Lato"/>
              <a:buChar char="●"/>
            </a:pPr>
            <a:r>
              <a:rPr lang="en-US" sz="2006">
                <a:solidFill>
                  <a:srgbClr val="F8FAFC"/>
                </a:solidFill>
                <a:latin typeface="Lato"/>
                <a:ea typeface="Lato"/>
                <a:cs typeface="Lato"/>
                <a:sym typeface="Lato"/>
              </a:rPr>
              <a:t>This lack of patience also affected the rest of the task as some tried to rush and end up not knowing what to do and were expecting us to tell them despite having instructions in the screen</a:t>
            </a:r>
            <a:endParaRPr sz="2006">
              <a:solidFill>
                <a:srgbClr val="F8FAFC"/>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158" name="Shape 158"/>
        <p:cNvGrpSpPr/>
        <p:nvPr/>
      </p:nvGrpSpPr>
      <p:grpSpPr>
        <a:xfrm>
          <a:off x="0" y="0"/>
          <a:ext cx="0" cy="0"/>
          <a:chOff x="0" y="0"/>
          <a:chExt cx="0" cy="0"/>
        </a:xfrm>
      </p:grpSpPr>
      <p:sp>
        <p:nvSpPr>
          <p:cNvPr id="159" name="Google Shape;159;p24"/>
          <p:cNvSpPr txBox="1"/>
          <p:nvPr/>
        </p:nvSpPr>
        <p:spPr>
          <a:xfrm>
            <a:off x="590400" y="441775"/>
            <a:ext cx="116016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3000">
                <a:solidFill>
                  <a:srgbClr val="FACC15"/>
                </a:solidFill>
                <a:latin typeface="Poppins SemiBold"/>
                <a:ea typeface="Poppins SemiBold"/>
                <a:cs typeface="Poppins SemiBold"/>
                <a:sym typeface="Poppins SemiBold"/>
              </a:rPr>
              <a:t>Significant Project Changes (3rd Version)</a:t>
            </a:r>
            <a:endParaRPr>
              <a:solidFill>
                <a:schemeClr val="dk1"/>
              </a:solidFill>
            </a:endParaRPr>
          </a:p>
          <a:p>
            <a:pPr indent="0" lvl="0" marL="0" marR="0" rtl="0" algn="l">
              <a:spcBef>
                <a:spcPts val="0"/>
              </a:spcBef>
              <a:spcAft>
                <a:spcPts val="0"/>
              </a:spcAft>
              <a:buNone/>
            </a:pPr>
            <a:r>
              <a:t/>
            </a:r>
            <a:endParaRPr b="1" sz="3000">
              <a:solidFill>
                <a:srgbClr val="FACC15"/>
              </a:solidFill>
              <a:latin typeface="Poppins SemiBold"/>
              <a:ea typeface="Poppins SemiBold"/>
              <a:cs typeface="Poppins SemiBold"/>
              <a:sym typeface="Poppins SemiBold"/>
            </a:endParaRPr>
          </a:p>
        </p:txBody>
      </p:sp>
      <p:pic>
        <p:nvPicPr>
          <p:cNvPr id="160" name="Google Shape;160;p24"/>
          <p:cNvPicPr preferRelativeResize="0"/>
          <p:nvPr/>
        </p:nvPicPr>
        <p:blipFill>
          <a:blip r:embed="rId3">
            <a:alphaModFix/>
          </a:blip>
          <a:stretch>
            <a:fillRect/>
          </a:stretch>
        </p:blipFill>
        <p:spPr>
          <a:xfrm>
            <a:off x="685800" y="1132889"/>
            <a:ext cx="4846927" cy="2462937"/>
          </a:xfrm>
          <a:prstGeom prst="rect">
            <a:avLst/>
          </a:prstGeom>
          <a:noFill/>
          <a:ln>
            <a:noFill/>
          </a:ln>
        </p:spPr>
      </p:pic>
      <p:pic>
        <p:nvPicPr>
          <p:cNvPr id="161" name="Google Shape;161;p24"/>
          <p:cNvPicPr preferRelativeResize="0"/>
          <p:nvPr/>
        </p:nvPicPr>
        <p:blipFill>
          <a:blip r:embed="rId4">
            <a:alphaModFix/>
          </a:blip>
          <a:stretch>
            <a:fillRect/>
          </a:stretch>
        </p:blipFill>
        <p:spPr>
          <a:xfrm>
            <a:off x="5694375" y="1106014"/>
            <a:ext cx="4736600" cy="2445263"/>
          </a:xfrm>
          <a:prstGeom prst="rect">
            <a:avLst/>
          </a:prstGeom>
          <a:noFill/>
          <a:ln>
            <a:noFill/>
          </a:ln>
        </p:spPr>
      </p:pic>
      <p:pic>
        <p:nvPicPr>
          <p:cNvPr id="162" name="Google Shape;162;p24"/>
          <p:cNvPicPr preferRelativeResize="0"/>
          <p:nvPr/>
        </p:nvPicPr>
        <p:blipFill>
          <a:blip r:embed="rId5">
            <a:alphaModFix/>
          </a:blip>
          <a:stretch>
            <a:fillRect/>
          </a:stretch>
        </p:blipFill>
        <p:spPr>
          <a:xfrm>
            <a:off x="685800" y="3871233"/>
            <a:ext cx="4846923" cy="2437641"/>
          </a:xfrm>
          <a:prstGeom prst="rect">
            <a:avLst/>
          </a:prstGeom>
          <a:noFill/>
          <a:ln>
            <a:noFill/>
          </a:ln>
        </p:spPr>
      </p:pic>
      <p:pic>
        <p:nvPicPr>
          <p:cNvPr id="163" name="Google Shape;163;p24"/>
          <p:cNvPicPr preferRelativeResize="0"/>
          <p:nvPr/>
        </p:nvPicPr>
        <p:blipFill>
          <a:blip r:embed="rId6">
            <a:alphaModFix/>
          </a:blip>
          <a:stretch>
            <a:fillRect/>
          </a:stretch>
        </p:blipFill>
        <p:spPr>
          <a:xfrm>
            <a:off x="5741309" y="3858588"/>
            <a:ext cx="4736593" cy="24629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167" name="Shape 167"/>
        <p:cNvGrpSpPr/>
        <p:nvPr/>
      </p:nvGrpSpPr>
      <p:grpSpPr>
        <a:xfrm>
          <a:off x="0" y="0"/>
          <a:ext cx="0" cy="0"/>
          <a:chOff x="0" y="0"/>
          <a:chExt cx="0" cy="0"/>
        </a:xfrm>
      </p:grpSpPr>
      <p:sp>
        <p:nvSpPr>
          <p:cNvPr id="168" name="Google Shape;168;p25"/>
          <p:cNvSpPr txBox="1"/>
          <p:nvPr/>
        </p:nvSpPr>
        <p:spPr>
          <a:xfrm>
            <a:off x="590400" y="441775"/>
            <a:ext cx="116016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3000">
                <a:solidFill>
                  <a:srgbClr val="FACC15"/>
                </a:solidFill>
                <a:latin typeface="Poppins SemiBold"/>
                <a:ea typeface="Poppins SemiBold"/>
                <a:cs typeface="Poppins SemiBold"/>
                <a:sym typeface="Poppins SemiBold"/>
              </a:rPr>
              <a:t>Significant Project Changes (3rd Version)</a:t>
            </a:r>
            <a:endParaRPr>
              <a:solidFill>
                <a:schemeClr val="dk1"/>
              </a:solidFill>
            </a:endParaRPr>
          </a:p>
          <a:p>
            <a:pPr indent="0" lvl="0" marL="0" marR="0" rtl="0" algn="l">
              <a:spcBef>
                <a:spcPts val="0"/>
              </a:spcBef>
              <a:spcAft>
                <a:spcPts val="0"/>
              </a:spcAft>
              <a:buNone/>
            </a:pPr>
            <a:r>
              <a:t/>
            </a:r>
            <a:endParaRPr b="1" sz="3000">
              <a:solidFill>
                <a:srgbClr val="FACC15"/>
              </a:solidFill>
              <a:latin typeface="Poppins SemiBold"/>
              <a:ea typeface="Poppins SemiBold"/>
              <a:cs typeface="Poppins SemiBold"/>
              <a:sym typeface="Poppins SemiBold"/>
            </a:endParaRPr>
          </a:p>
        </p:txBody>
      </p:sp>
      <p:sp>
        <p:nvSpPr>
          <p:cNvPr id="169" name="Google Shape;169;p25"/>
          <p:cNvSpPr txBox="1"/>
          <p:nvPr/>
        </p:nvSpPr>
        <p:spPr>
          <a:xfrm>
            <a:off x="860575" y="1248700"/>
            <a:ext cx="7523700" cy="44625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200"/>
              </a:spcBef>
              <a:spcAft>
                <a:spcPts val="0"/>
              </a:spcAft>
              <a:buNone/>
            </a:pPr>
            <a:r>
              <a:rPr lang="en-US" sz="2850">
                <a:solidFill>
                  <a:srgbClr val="F8FAFC"/>
                </a:solidFill>
                <a:latin typeface="Lato"/>
                <a:ea typeface="Lato"/>
                <a:cs typeface="Lato"/>
                <a:sym typeface="Lato"/>
              </a:rPr>
              <a:t>This is the third and final version.</a:t>
            </a:r>
            <a:endParaRPr sz="2850">
              <a:solidFill>
                <a:srgbClr val="F8FAFC"/>
              </a:solidFill>
              <a:latin typeface="Lato"/>
              <a:ea typeface="Lato"/>
              <a:cs typeface="Lato"/>
              <a:sym typeface="Lato"/>
            </a:endParaRPr>
          </a:p>
          <a:p>
            <a:pPr indent="0" lvl="0" marL="457200" rtl="0" algn="l">
              <a:lnSpc>
                <a:spcPct val="115000"/>
              </a:lnSpc>
              <a:spcBef>
                <a:spcPts val="1200"/>
              </a:spcBef>
              <a:spcAft>
                <a:spcPts val="0"/>
              </a:spcAft>
              <a:buNone/>
            </a:pPr>
            <a:r>
              <a:rPr lang="en-US" sz="2850">
                <a:solidFill>
                  <a:srgbClr val="F8FAFC"/>
                </a:solidFill>
                <a:latin typeface="Lato"/>
                <a:ea typeface="Lato"/>
                <a:cs typeface="Lato"/>
                <a:sym typeface="Lato"/>
              </a:rPr>
              <a:t>What was modified or added:</a:t>
            </a:r>
            <a:endParaRPr sz="2850">
              <a:solidFill>
                <a:srgbClr val="F8FAFC"/>
              </a:solidFill>
              <a:latin typeface="Lato"/>
              <a:ea typeface="Lato"/>
              <a:cs typeface="Lato"/>
              <a:sym typeface="Lato"/>
            </a:endParaRPr>
          </a:p>
          <a:p>
            <a:pPr indent="-409575" lvl="0" marL="457200" rtl="0" algn="l">
              <a:lnSpc>
                <a:spcPct val="115000"/>
              </a:lnSpc>
              <a:spcBef>
                <a:spcPts val="1200"/>
              </a:spcBef>
              <a:spcAft>
                <a:spcPts val="0"/>
              </a:spcAft>
              <a:buClr>
                <a:srgbClr val="F8FAFC"/>
              </a:buClr>
              <a:buSzPts val="2850"/>
              <a:buFont typeface="Lato"/>
              <a:buChar char="●"/>
            </a:pPr>
            <a:r>
              <a:rPr lang="en-US" sz="2850">
                <a:solidFill>
                  <a:srgbClr val="F8FAFC"/>
                </a:solidFill>
                <a:latin typeface="Lato"/>
                <a:ea typeface="Lato"/>
                <a:cs typeface="Lato"/>
                <a:sym typeface="Lato"/>
              </a:rPr>
              <a:t>The design of the hero section was changed.</a:t>
            </a:r>
            <a:endParaRPr sz="2850">
              <a:solidFill>
                <a:srgbClr val="F8FAFC"/>
              </a:solidFill>
              <a:latin typeface="Lato"/>
              <a:ea typeface="Lato"/>
              <a:cs typeface="Lato"/>
              <a:sym typeface="Lato"/>
            </a:endParaRPr>
          </a:p>
          <a:p>
            <a:pPr indent="-409575" lvl="0" marL="457200" rtl="0" algn="l">
              <a:lnSpc>
                <a:spcPct val="115000"/>
              </a:lnSpc>
              <a:spcBef>
                <a:spcPts val="0"/>
              </a:spcBef>
              <a:spcAft>
                <a:spcPts val="0"/>
              </a:spcAft>
              <a:buClr>
                <a:srgbClr val="F8FAFC"/>
              </a:buClr>
              <a:buSzPts val="2850"/>
              <a:buFont typeface="Lato"/>
              <a:buChar char="●"/>
            </a:pPr>
            <a:r>
              <a:rPr lang="en-US" sz="2850">
                <a:solidFill>
                  <a:srgbClr val="F8FAFC"/>
                </a:solidFill>
                <a:latin typeface="Lato"/>
                <a:ea typeface="Lato"/>
                <a:cs typeface="Lato"/>
                <a:sym typeface="Lato"/>
              </a:rPr>
              <a:t>The header was completely redesigned to better align with UADY’s design and emphasize registration.</a:t>
            </a:r>
            <a:endParaRPr sz="2850">
              <a:solidFill>
                <a:srgbClr val="F8FAFC"/>
              </a:solidFill>
              <a:latin typeface="Lato"/>
              <a:ea typeface="Lato"/>
              <a:cs typeface="Lato"/>
              <a:sym typeface="Lato"/>
            </a:endParaRPr>
          </a:p>
          <a:p>
            <a:pPr indent="-409575" lvl="0" marL="457200" rtl="0" algn="l">
              <a:lnSpc>
                <a:spcPct val="115000"/>
              </a:lnSpc>
              <a:spcBef>
                <a:spcPts val="0"/>
              </a:spcBef>
              <a:spcAft>
                <a:spcPts val="0"/>
              </a:spcAft>
              <a:buClr>
                <a:srgbClr val="F8FAFC"/>
              </a:buClr>
              <a:buSzPts val="2850"/>
              <a:buFont typeface="Lato"/>
              <a:buChar char="●"/>
            </a:pPr>
            <a:r>
              <a:rPr lang="en-US" sz="2850">
                <a:solidFill>
                  <a:srgbClr val="F8FAFC"/>
                </a:solidFill>
                <a:latin typeface="Lato"/>
                <a:ea typeface="Lato"/>
                <a:cs typeface="Lato"/>
                <a:sym typeface="Lato"/>
              </a:rPr>
              <a:t>A section was added to the landing page to encourage users to sign up.</a:t>
            </a:r>
            <a:endParaRPr sz="2850">
              <a:solidFill>
                <a:srgbClr val="F8FAFC"/>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173" name="Shape 173"/>
        <p:cNvGrpSpPr/>
        <p:nvPr/>
      </p:nvGrpSpPr>
      <p:grpSpPr>
        <a:xfrm>
          <a:off x="0" y="0"/>
          <a:ext cx="0" cy="0"/>
          <a:chOff x="0" y="0"/>
          <a:chExt cx="0" cy="0"/>
        </a:xfrm>
      </p:grpSpPr>
      <p:sp>
        <p:nvSpPr>
          <p:cNvPr id="174" name="Google Shape;174;p26"/>
          <p:cNvSpPr txBox="1"/>
          <p:nvPr/>
        </p:nvSpPr>
        <p:spPr>
          <a:xfrm>
            <a:off x="571500" y="571500"/>
            <a:ext cx="11601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FACC15"/>
                </a:solidFill>
                <a:latin typeface="Poppins SemiBold"/>
                <a:ea typeface="Poppins SemiBold"/>
                <a:cs typeface="Poppins SemiBold"/>
                <a:sym typeface="Poppins SemiBold"/>
              </a:rPr>
              <a:t>Usability Testing: Analysis and Results</a:t>
            </a:r>
            <a:endParaRPr/>
          </a:p>
        </p:txBody>
      </p:sp>
      <p:sp>
        <p:nvSpPr>
          <p:cNvPr id="175" name="Google Shape;175;p26"/>
          <p:cNvSpPr txBox="1"/>
          <p:nvPr/>
        </p:nvSpPr>
        <p:spPr>
          <a:xfrm>
            <a:off x="583639" y="1563628"/>
            <a:ext cx="11024700" cy="4906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2106">
                <a:solidFill>
                  <a:srgbClr val="F8FAFC"/>
                </a:solidFill>
                <a:latin typeface="Lato"/>
                <a:ea typeface="Lato"/>
                <a:cs typeface="Lato"/>
                <a:sym typeface="Lato"/>
              </a:rPr>
              <a:t>On the second batch of test we decided to center around the think aloud and do a SUS survey after on the improved system based on the prior results.</a:t>
            </a:r>
            <a:endParaRPr sz="2106">
              <a:solidFill>
                <a:srgbClr val="F8FAFC"/>
              </a:solidFill>
              <a:latin typeface="Lato"/>
              <a:ea typeface="Lato"/>
              <a:cs typeface="Lato"/>
              <a:sym typeface="Lato"/>
            </a:endParaRPr>
          </a:p>
          <a:p>
            <a:pPr indent="0" lvl="0" marL="0" marR="0" rtl="0" algn="l">
              <a:lnSpc>
                <a:spcPct val="150000"/>
              </a:lnSpc>
              <a:spcBef>
                <a:spcPts val="0"/>
              </a:spcBef>
              <a:spcAft>
                <a:spcPts val="0"/>
              </a:spcAft>
              <a:buNone/>
            </a:pPr>
            <a:r>
              <a:rPr lang="en-US" sz="2106">
                <a:solidFill>
                  <a:srgbClr val="F8FAFC"/>
                </a:solidFill>
                <a:latin typeface="Lato"/>
                <a:ea typeface="Lato"/>
                <a:cs typeface="Lato"/>
                <a:sym typeface="Lato"/>
              </a:rPr>
              <a:t>The SUS survey results were:</a:t>
            </a:r>
            <a:endParaRPr sz="2106">
              <a:solidFill>
                <a:srgbClr val="F8FAFC"/>
              </a:solidFill>
              <a:latin typeface="Lato"/>
              <a:ea typeface="Lato"/>
              <a:cs typeface="Lato"/>
              <a:sym typeface="Lato"/>
            </a:endParaRPr>
          </a:p>
          <a:p>
            <a:pPr indent="0" lvl="0" marL="0" marR="0" rtl="0" algn="l">
              <a:lnSpc>
                <a:spcPct val="150000"/>
              </a:lnSpc>
              <a:spcBef>
                <a:spcPts val="0"/>
              </a:spcBef>
              <a:spcAft>
                <a:spcPts val="0"/>
              </a:spcAft>
              <a:buNone/>
            </a:pPr>
            <a:r>
              <a:rPr lang="en-US" sz="2106">
                <a:solidFill>
                  <a:srgbClr val="F8FAFC"/>
                </a:solidFill>
                <a:latin typeface="Lato"/>
                <a:ea typeface="Lato"/>
                <a:cs typeface="Lato"/>
                <a:sym typeface="Lato"/>
              </a:rPr>
              <a:t>( 92.5 + 100 + 100 ) = 97.5</a:t>
            </a:r>
            <a:endParaRPr sz="2106">
              <a:solidFill>
                <a:srgbClr val="F8FAFC"/>
              </a:solidFill>
              <a:latin typeface="Lato"/>
              <a:ea typeface="Lato"/>
              <a:cs typeface="Lato"/>
              <a:sym typeface="Lato"/>
            </a:endParaRPr>
          </a:p>
          <a:p>
            <a:pPr indent="0" lvl="0" marL="0" marR="0" rtl="0" algn="l">
              <a:lnSpc>
                <a:spcPct val="150000"/>
              </a:lnSpc>
              <a:spcBef>
                <a:spcPts val="0"/>
              </a:spcBef>
              <a:spcAft>
                <a:spcPts val="0"/>
              </a:spcAft>
              <a:buNone/>
            </a:pPr>
            <a:r>
              <a:rPr lang="en-US" sz="2106">
                <a:solidFill>
                  <a:srgbClr val="F8FAFC"/>
                </a:solidFill>
                <a:latin typeface="Lato"/>
                <a:ea typeface="Lato"/>
                <a:cs typeface="Lato"/>
                <a:sym typeface="Lato"/>
              </a:rPr>
              <a:t>The data that we collected from this second testing was:</a:t>
            </a:r>
            <a:endParaRPr sz="2106">
              <a:solidFill>
                <a:srgbClr val="F8FAFC"/>
              </a:solidFill>
              <a:latin typeface="Lato"/>
              <a:ea typeface="Lato"/>
              <a:cs typeface="Lato"/>
              <a:sym typeface="Lato"/>
            </a:endParaRPr>
          </a:p>
          <a:p>
            <a:pPr indent="-362318" lvl="0" marL="457200" marR="0" rtl="0" algn="l">
              <a:lnSpc>
                <a:spcPct val="150000"/>
              </a:lnSpc>
              <a:spcBef>
                <a:spcPts val="0"/>
              </a:spcBef>
              <a:spcAft>
                <a:spcPts val="0"/>
              </a:spcAft>
              <a:buClr>
                <a:srgbClr val="F8FAFC"/>
              </a:buClr>
              <a:buSzPts val="2106"/>
              <a:buFont typeface="Lato"/>
              <a:buChar char="●"/>
            </a:pPr>
            <a:r>
              <a:rPr lang="en-US" sz="2106">
                <a:solidFill>
                  <a:srgbClr val="F8FAFC"/>
                </a:solidFill>
                <a:latin typeface="Lato"/>
                <a:ea typeface="Lato"/>
                <a:cs typeface="Lato"/>
                <a:sym typeface="Lato"/>
              </a:rPr>
              <a:t>They liked that the app didn’t need from the start all your data to create an account</a:t>
            </a:r>
            <a:endParaRPr sz="2106">
              <a:solidFill>
                <a:srgbClr val="F8FAFC"/>
              </a:solidFill>
              <a:latin typeface="Lato"/>
              <a:ea typeface="Lato"/>
              <a:cs typeface="Lato"/>
              <a:sym typeface="Lato"/>
            </a:endParaRPr>
          </a:p>
          <a:p>
            <a:pPr indent="-362318" lvl="0" marL="457200" marR="0" rtl="0" algn="l">
              <a:lnSpc>
                <a:spcPct val="150000"/>
              </a:lnSpc>
              <a:spcBef>
                <a:spcPts val="0"/>
              </a:spcBef>
              <a:spcAft>
                <a:spcPts val="0"/>
              </a:spcAft>
              <a:buClr>
                <a:srgbClr val="F8FAFC"/>
              </a:buClr>
              <a:buSzPts val="2106"/>
              <a:buFont typeface="Lato"/>
              <a:buChar char="●"/>
            </a:pPr>
            <a:r>
              <a:rPr lang="en-US" sz="2106">
                <a:solidFill>
                  <a:srgbClr val="F8FAFC"/>
                </a:solidFill>
                <a:latin typeface="Lato"/>
                <a:ea typeface="Lato"/>
                <a:cs typeface="Lato"/>
                <a:sym typeface="Lato"/>
              </a:rPr>
              <a:t>Couple of misclick on the upload file area, the image and clickable area seem to not </a:t>
            </a:r>
            <a:r>
              <a:rPr lang="en-US" sz="2106">
                <a:solidFill>
                  <a:srgbClr val="F8FAFC"/>
                </a:solidFill>
                <a:latin typeface="Lato"/>
                <a:ea typeface="Lato"/>
                <a:cs typeface="Lato"/>
                <a:sym typeface="Lato"/>
              </a:rPr>
              <a:t>line up</a:t>
            </a:r>
            <a:r>
              <a:rPr lang="en-US" sz="2106">
                <a:solidFill>
                  <a:srgbClr val="F8FAFC"/>
                </a:solidFill>
                <a:latin typeface="Lato"/>
                <a:ea typeface="Lato"/>
                <a:cs typeface="Lato"/>
                <a:sym typeface="Lato"/>
              </a:rPr>
              <a:t> correctly</a:t>
            </a:r>
            <a:endParaRPr sz="2106">
              <a:solidFill>
                <a:srgbClr val="F8FAFC"/>
              </a:solidFill>
              <a:latin typeface="Lato"/>
              <a:ea typeface="Lato"/>
              <a:cs typeface="Lato"/>
              <a:sym typeface="Lato"/>
            </a:endParaRPr>
          </a:p>
          <a:p>
            <a:pPr indent="-362318" lvl="0" marL="457200" marR="0" rtl="0" algn="l">
              <a:lnSpc>
                <a:spcPct val="150000"/>
              </a:lnSpc>
              <a:spcBef>
                <a:spcPts val="0"/>
              </a:spcBef>
              <a:spcAft>
                <a:spcPts val="0"/>
              </a:spcAft>
              <a:buClr>
                <a:srgbClr val="F8FAFC"/>
              </a:buClr>
              <a:buSzPts val="2106"/>
              <a:buFont typeface="Lato"/>
              <a:buChar char="●"/>
            </a:pPr>
            <a:r>
              <a:rPr lang="en-US" sz="2106">
                <a:solidFill>
                  <a:srgbClr val="F8FAFC"/>
                </a:solidFill>
                <a:latin typeface="Lato"/>
                <a:ea typeface="Lato"/>
                <a:cs typeface="Lato"/>
                <a:sym typeface="Lato"/>
              </a:rPr>
              <a:t>There were a couple of error that came to be because the users were aware of the test, example typing less than 16 numbers on the credit card text box</a:t>
            </a:r>
            <a:endParaRPr sz="2106">
              <a:solidFill>
                <a:srgbClr val="F8FAFC"/>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179" name="Shape 179"/>
        <p:cNvGrpSpPr/>
        <p:nvPr/>
      </p:nvGrpSpPr>
      <p:grpSpPr>
        <a:xfrm>
          <a:off x="0" y="0"/>
          <a:ext cx="0" cy="0"/>
          <a:chOff x="0" y="0"/>
          <a:chExt cx="0" cy="0"/>
        </a:xfrm>
      </p:grpSpPr>
      <p:sp>
        <p:nvSpPr>
          <p:cNvPr id="180" name="Google Shape;180;p27"/>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FACC15"/>
                </a:solidFill>
                <a:latin typeface="Poppins SemiBold"/>
                <a:ea typeface="Poppins SemiBold"/>
                <a:cs typeface="Poppins SemiBold"/>
                <a:sym typeface="Poppins SemiBold"/>
              </a:rPr>
              <a:t>Teamwork: Distribution of Responsibilities</a:t>
            </a:r>
            <a:endParaRPr/>
          </a:p>
        </p:txBody>
      </p:sp>
      <p:sp>
        <p:nvSpPr>
          <p:cNvPr id="181" name="Google Shape;181;p27"/>
          <p:cNvSpPr txBox="1"/>
          <p:nvPr/>
        </p:nvSpPr>
        <p:spPr>
          <a:xfrm>
            <a:off x="571500" y="1143000"/>
            <a:ext cx="11049000" cy="1454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350">
                <a:solidFill>
                  <a:srgbClr val="F8FAFC"/>
                </a:solidFill>
                <a:latin typeface="Lato"/>
                <a:ea typeface="Lato"/>
                <a:cs typeface="Lato"/>
                <a:sym typeface="Lato"/>
              </a:rPr>
              <a:t>Samuel: UI design, creation of prototypes, Non-functional requirements document, demographics definition, translation of documents, </a:t>
            </a:r>
            <a:endParaRPr sz="1350">
              <a:solidFill>
                <a:srgbClr val="F8FAFC"/>
              </a:solidFill>
              <a:latin typeface="Lato"/>
              <a:ea typeface="Lato"/>
              <a:cs typeface="Lato"/>
              <a:sym typeface="Lato"/>
            </a:endParaRPr>
          </a:p>
          <a:p>
            <a:pPr indent="0" lvl="0" marL="0" marR="0" rtl="0" algn="l">
              <a:lnSpc>
                <a:spcPct val="150000"/>
              </a:lnSpc>
              <a:spcBef>
                <a:spcPts val="0"/>
              </a:spcBef>
              <a:spcAft>
                <a:spcPts val="0"/>
              </a:spcAft>
              <a:buNone/>
            </a:pPr>
            <a:r>
              <a:rPr lang="en-US" sz="1350">
                <a:solidFill>
                  <a:srgbClr val="F8FAFC"/>
                </a:solidFill>
                <a:latin typeface="Lato"/>
                <a:ea typeface="Lato"/>
                <a:cs typeface="Lato"/>
                <a:sym typeface="Lato"/>
              </a:rPr>
              <a:t>Adriel: Creation of the database, connection of prototype to database, translation of documents, creation and management of log, user testing, Non-functional requirements document</a:t>
            </a:r>
            <a:endParaRPr sz="1350">
              <a:solidFill>
                <a:srgbClr val="F8FAFC"/>
              </a:solidFill>
              <a:latin typeface="Lato"/>
              <a:ea typeface="Lato"/>
              <a:cs typeface="Lato"/>
              <a:sym typeface="Lato"/>
            </a:endParaRPr>
          </a:p>
          <a:p>
            <a:pPr indent="0" lvl="0" marL="0" marR="0" rtl="0" algn="l">
              <a:lnSpc>
                <a:spcPct val="150000"/>
              </a:lnSpc>
              <a:spcBef>
                <a:spcPts val="0"/>
              </a:spcBef>
              <a:spcAft>
                <a:spcPts val="0"/>
              </a:spcAft>
              <a:buNone/>
            </a:pPr>
            <a:r>
              <a:rPr lang="en-US" sz="1350">
                <a:solidFill>
                  <a:srgbClr val="F8FAFC"/>
                </a:solidFill>
                <a:latin typeface="Lato"/>
                <a:ea typeface="Lato"/>
                <a:cs typeface="Lato"/>
                <a:sym typeface="Lato"/>
              </a:rPr>
              <a:t>Aldo: Functional and non-functional requirements first version, changes in the organization of the github</a:t>
            </a:r>
            <a:endParaRPr sz="1350">
              <a:solidFill>
                <a:srgbClr val="F8FAFC"/>
              </a:solidFill>
              <a:latin typeface="Lato"/>
              <a:ea typeface="Lato"/>
              <a:cs typeface="Lato"/>
              <a:sym typeface="Lato"/>
            </a:endParaRPr>
          </a:p>
          <a:p>
            <a:pPr indent="0" lvl="0" marL="0" marR="0" rtl="0" algn="l">
              <a:lnSpc>
                <a:spcPct val="150000"/>
              </a:lnSpc>
              <a:spcBef>
                <a:spcPts val="0"/>
              </a:spcBef>
              <a:spcAft>
                <a:spcPts val="0"/>
              </a:spcAft>
              <a:buNone/>
            </a:pPr>
            <a:r>
              <a:rPr lang="en-US" sz="1350">
                <a:solidFill>
                  <a:srgbClr val="F8FAFC"/>
                </a:solidFill>
                <a:latin typeface="Lato"/>
                <a:ea typeface="Lato"/>
                <a:cs typeface="Lato"/>
                <a:sym typeface="Lato"/>
              </a:rPr>
              <a:t>Sebastian: Persona archetype definition </a:t>
            </a:r>
            <a:endParaRPr sz="1350">
              <a:solidFill>
                <a:srgbClr val="F8FAFC"/>
              </a:solidFill>
              <a:latin typeface="Lato"/>
              <a:ea typeface="Lato"/>
              <a:cs typeface="Lato"/>
              <a:sym typeface="Lato"/>
            </a:endParaRPr>
          </a:p>
        </p:txBody>
      </p:sp>
      <p:pic>
        <p:nvPicPr>
          <p:cNvPr id="182" name="Google Shape;182;p27" title="Points scored"/>
          <p:cNvPicPr preferRelativeResize="0"/>
          <p:nvPr/>
        </p:nvPicPr>
        <p:blipFill>
          <a:blip r:embed="rId3">
            <a:alphaModFix/>
          </a:blip>
          <a:stretch>
            <a:fillRect/>
          </a:stretch>
        </p:blipFill>
        <p:spPr>
          <a:xfrm>
            <a:off x="2325700" y="2597700"/>
            <a:ext cx="7101375" cy="40402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2B49"/>
        </a:solidFill>
      </p:bgPr>
    </p:bg>
    <p:spTree>
      <p:nvGrpSpPr>
        <p:cNvPr id="186" name="Shape 186"/>
        <p:cNvGrpSpPr/>
        <p:nvPr/>
      </p:nvGrpSpPr>
      <p:grpSpPr>
        <a:xfrm>
          <a:off x="0" y="0"/>
          <a:ext cx="0" cy="0"/>
          <a:chOff x="0" y="0"/>
          <a:chExt cx="0" cy="0"/>
        </a:xfrm>
      </p:grpSpPr>
      <p:sp>
        <p:nvSpPr>
          <p:cNvPr id="187" name="Google Shape;187;p28"/>
          <p:cNvSpPr txBox="1"/>
          <p:nvPr/>
        </p:nvSpPr>
        <p:spPr>
          <a:xfrm>
            <a:off x="295275" y="2519362"/>
            <a:ext cx="11601450" cy="114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000" u="none" cap="none" strike="noStrike">
                <a:solidFill>
                  <a:srgbClr val="FACC15"/>
                </a:solidFill>
                <a:latin typeface="Poppins"/>
                <a:ea typeface="Poppins"/>
                <a:cs typeface="Poppins"/>
                <a:sym typeface="Poppins"/>
              </a:rPr>
              <a:t>Questions?</a:t>
            </a:r>
            <a:endParaRPr/>
          </a:p>
        </p:txBody>
      </p:sp>
      <p:sp>
        <p:nvSpPr>
          <p:cNvPr id="188" name="Google Shape;188;p28"/>
          <p:cNvSpPr txBox="1"/>
          <p:nvPr/>
        </p:nvSpPr>
        <p:spPr>
          <a:xfrm>
            <a:off x="571500" y="3852862"/>
            <a:ext cx="11049000" cy="277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800" u="none" cap="none" strike="noStrike">
                <a:solidFill>
                  <a:srgbClr val="E2E8F0"/>
                </a:solidFill>
                <a:latin typeface="Lato"/>
                <a:ea typeface="Lato"/>
                <a:cs typeface="Lato"/>
                <a:sym typeface="Lato"/>
              </a:rPr>
              <a:t>Thank you for your attention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